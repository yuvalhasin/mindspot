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5201563" cy="35999738"/>
  <p:notesSz cx="35999738" cy="252015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4" d="100"/>
          <a:sy n="34" d="100"/>
        </p:scale>
        <p:origin x="53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344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200864" cy="5394960"/>
          </a:xfrm>
          <a:prstGeom prst="rect">
            <a:avLst/>
          </a:prstGeom>
          <a:solidFill>
            <a:srgbClr val="061810"/>
          </a:solidFill>
          <a:ln w="12700">
            <a:solidFill>
              <a:srgbClr val="06181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200864" cy="16459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5230368"/>
            <a:ext cx="25200864" cy="16459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24469344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 rtl="1">
              <a:buNone/>
            </a:pPr>
            <a:r>
              <a:rPr lang="en-US" sz="2800" b="1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המרכז האקדמי רופין  |  המחלקה למדעי המחשב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24469344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 rtl="1">
              <a:buNone/>
            </a:pPr>
            <a:r>
              <a:rPr lang="en-US" sz="24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התמחות: פיתוח מערכות תוכנה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44693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800" b="1" dirty="0">
                <a:solidFill>
                  <a:srgbClr val="FFFFFF"/>
                </a:solidFill>
                <a:ea typeface="Arial Black" pitchFamily="34" charset="-122"/>
                <a:cs typeface="Assistant" pitchFamily="2" charset="-79"/>
              </a:rPr>
              <a:t>Mind</a:t>
            </a:r>
            <a:r>
              <a:rPr lang="en-US" sz="14800" b="1" dirty="0">
                <a:solidFill>
                  <a:srgbClr val="52B788"/>
                </a:solidFill>
                <a:ea typeface="Arial Black" pitchFamily="34" charset="-122"/>
                <a:cs typeface="Assistant" pitchFamily="2" charset="-79"/>
              </a:rPr>
              <a:t>Spot</a:t>
            </a:r>
            <a:endParaRPr lang="en-US" sz="14800" dirty="0"/>
          </a:p>
        </p:txBody>
      </p:sp>
      <p:sp>
        <p:nvSpPr>
          <p:cNvPr id="8" name="Text 6"/>
          <p:cNvSpPr/>
          <p:nvPr/>
        </p:nvSpPr>
        <p:spPr>
          <a:xfrm>
            <a:off x="365760" y="3127248"/>
            <a:ext cx="2446934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 rtl="1">
              <a:buNone/>
            </a:pPr>
            <a:r>
              <a:rPr lang="en-US" sz="3800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פלטפורמת מיקרו-טיפול נפשי חכמה מבוססת AI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12573000" y="3867912"/>
            <a:ext cx="54864" cy="868680"/>
          </a:xfrm>
          <a:prstGeom prst="rect">
            <a:avLst/>
          </a:prstGeom>
          <a:solidFill>
            <a:srgbClr val="7FAFC0"/>
          </a:solidFill>
          <a:ln w="12700">
            <a:solidFill>
              <a:srgbClr val="7FAFC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1168603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יובל חסין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737592" y="3931920"/>
            <a:ext cx="1173175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מנחה: מר אורן עיני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65760" y="5577840"/>
            <a:ext cx="12051792" cy="5303520"/>
          </a:xfrm>
          <a:prstGeom prst="rect">
            <a:avLst/>
          </a:prstGeom>
          <a:solidFill>
            <a:srgbClr val="102030"/>
          </a:solidFill>
          <a:ln w="15240">
            <a:solidFill>
              <a:srgbClr val="2D9C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66928" y="5742432"/>
            <a:ext cx="1164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רקע ומוטיבציה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66928" y="6537960"/>
            <a:ext cx="11649456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r" rtl="1">
              <a:buNone/>
            </a:pPr>
            <a:r>
              <a:rPr lang="en-US" sz="22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כ-20% מהאוכלוסייה בישראל סובלים מבעיות נפשיות שאינן מטופלות, עקב זמני המתנה ארוכים, עלות גבוהה וסטיגמה חברתית.</a:t>
            </a:r>
            <a:endParaRPr lang="en-US" sz="2200" dirty="0"/>
          </a:p>
          <a:p>
            <a:pPr marL="0" indent="0" algn="r" rtl="1">
              <a:buNone/>
            </a:pPr>
            <a:endParaRPr lang="en-US" sz="2200" dirty="0"/>
          </a:p>
          <a:p>
            <a:pPr marL="0" indent="0" algn="r" rtl="1">
              <a:buNone/>
            </a:pPr>
            <a:r>
              <a:rPr lang="en-US" sz="22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זמן המתנה ממוצע לפגישה ראשונה: 3–6 חודשים.</a:t>
            </a:r>
            <a:endParaRPr lang="en-US" sz="2200" dirty="0"/>
          </a:p>
          <a:p>
            <a:pPr marL="0" indent="0" algn="r" rtl="1">
              <a:buNone/>
            </a:pPr>
            <a:endParaRPr lang="en-US" sz="2200" dirty="0"/>
          </a:p>
          <a:p>
            <a:pPr marL="0" indent="0" algn="r" rtl="1">
              <a:buNone/>
            </a:pPr>
            <a:r>
              <a:rPr lang="en-US" sz="22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MindSpot מספקת מענה מיידי — מיון AI, התאמה וקטורית למטפל מתאים ותשלום מאובטח — הכל בממשק אחד.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66928" y="9509760"/>
            <a:ext cx="11649456" cy="1115568"/>
          </a:xfrm>
          <a:prstGeom prst="rect">
            <a:avLst/>
          </a:prstGeom>
          <a:solidFill>
            <a:srgbClr val="0D3020"/>
          </a:solidFill>
          <a:ln w="1524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85800" y="9582912"/>
            <a:ext cx="1141171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1 מ-5 ישראלים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5800" y="10076688"/>
            <a:ext cx="11411712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סובל ואינו מקבל טיפול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783312" y="5577840"/>
            <a:ext cx="12051792" cy="5303520"/>
          </a:xfrm>
          <a:prstGeom prst="rect">
            <a:avLst/>
          </a:prstGeom>
          <a:solidFill>
            <a:srgbClr val="102030"/>
          </a:solidFill>
          <a:ln w="15240">
            <a:solidFill>
              <a:srgbClr val="2D9C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12984480" y="5742432"/>
            <a:ext cx="1164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מטרות הפרויקט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12984480" y="6592824"/>
            <a:ext cx="493776" cy="80467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12984480" y="6592824"/>
            <a:ext cx="4937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587984" y="6574536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מיון AI חכם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13587984" y="6995160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GPT-4 מנתח שאלון רגשי ומייצר סיכום קליני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984480" y="7662672"/>
            <a:ext cx="493776" cy="80467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12984480" y="7662672"/>
            <a:ext cx="4937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587984" y="7644384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התאמה וקטורית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13587984" y="8065008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OpenAI Embeddings + RavenDB Vector Search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984480" y="8732520"/>
            <a:ext cx="493776" cy="80467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12984480" y="8732520"/>
            <a:ext cx="4937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587984" y="8714232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צ'אט בזמן אמת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3587984" y="9134856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SignalR לתקשורת מאובטחת מטופל ↔ מטפל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984480" y="9802368"/>
            <a:ext cx="493776" cy="80467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12984480" y="9802368"/>
            <a:ext cx="4937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3587984" y="9784080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תשלום מובנה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13587984" y="10204704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Stripe: החזרים ומדיניות ביטול אוטומטית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65760" y="11109960"/>
            <a:ext cx="24469344" cy="5029200"/>
          </a:xfrm>
          <a:prstGeom prst="rect">
            <a:avLst/>
          </a:prstGeom>
          <a:solidFill>
            <a:srgbClr val="172840"/>
          </a:solidFill>
          <a:ln w="15240">
            <a:solidFill>
              <a:srgbClr val="2D9C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7" name="Text 35"/>
          <p:cNvSpPr/>
          <p:nvPr/>
        </p:nvSpPr>
        <p:spPr>
          <a:xfrm>
            <a:off x="566928" y="11274552"/>
            <a:ext cx="2406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ארכיטקטורת המערכת</a:t>
            </a:r>
            <a:endParaRPr lang="en-US" sz="3800" dirty="0"/>
          </a:p>
        </p:txBody>
      </p:sp>
      <p:sp>
        <p:nvSpPr>
          <p:cNvPr id="38" name="Shape 36"/>
          <p:cNvSpPr/>
          <p:nvPr/>
        </p:nvSpPr>
        <p:spPr>
          <a:xfrm>
            <a:off x="566928" y="12024360"/>
            <a:ext cx="4608576" cy="3794760"/>
          </a:xfrm>
          <a:prstGeom prst="rect">
            <a:avLst/>
          </a:prstGeom>
          <a:solidFill>
            <a:srgbClr val="1A5E8A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566928" y="12161520"/>
            <a:ext cx="460857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Frontend</a:t>
            </a:r>
            <a:endParaRPr lang="en-US" sz="2700" dirty="0"/>
          </a:p>
        </p:txBody>
      </p:sp>
      <p:sp>
        <p:nvSpPr>
          <p:cNvPr id="40" name="Shape 38"/>
          <p:cNvSpPr/>
          <p:nvPr/>
        </p:nvSpPr>
        <p:spPr>
          <a:xfrm>
            <a:off x="731520" y="12792456"/>
            <a:ext cx="4279392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Text 39"/>
          <p:cNvSpPr/>
          <p:nvPr/>
        </p:nvSpPr>
        <p:spPr>
          <a:xfrm>
            <a:off x="566928" y="12975336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React 18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66928" y="13670280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Tailwind CSS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566928" y="14365224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i18next (RTL)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566928" y="15060168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React Router v6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5202936" y="13944600"/>
            <a:ext cx="201168" cy="0"/>
          </a:xfrm>
          <a:prstGeom prst="line">
            <a:avLst/>
          </a:prstGeom>
          <a:noFill/>
          <a:ln w="38100">
            <a:solidFill>
              <a:srgbClr val="95E0B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5431536" y="12024360"/>
            <a:ext cx="4608576" cy="3794760"/>
          </a:xfrm>
          <a:prstGeom prst="rect">
            <a:avLst/>
          </a:prstGeom>
          <a:solidFill>
            <a:srgbClr val="1A6840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7" name="Text 45"/>
          <p:cNvSpPr/>
          <p:nvPr/>
        </p:nvSpPr>
        <p:spPr>
          <a:xfrm>
            <a:off x="5431536" y="12161520"/>
            <a:ext cx="460857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Backend</a:t>
            </a:r>
            <a:endParaRPr lang="en-US" sz="2700" dirty="0"/>
          </a:p>
        </p:txBody>
      </p:sp>
      <p:sp>
        <p:nvSpPr>
          <p:cNvPr id="48" name="Shape 46"/>
          <p:cNvSpPr/>
          <p:nvPr/>
        </p:nvSpPr>
        <p:spPr>
          <a:xfrm>
            <a:off x="5596128" y="12792456"/>
            <a:ext cx="4279392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Text 47"/>
          <p:cNvSpPr/>
          <p:nvPr/>
        </p:nvSpPr>
        <p:spPr>
          <a:xfrm>
            <a:off x="5431536" y="12975336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.NET 8 Web API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5431536" y="13670280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JWT Auth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5431536" y="14365224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BCrypt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5431536" y="15060168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RESTful API</a:t>
            </a:r>
            <a:endParaRPr lang="en-US" sz="1900" dirty="0"/>
          </a:p>
        </p:txBody>
      </p:sp>
      <p:sp>
        <p:nvSpPr>
          <p:cNvPr id="53" name="Shape 51"/>
          <p:cNvSpPr/>
          <p:nvPr/>
        </p:nvSpPr>
        <p:spPr>
          <a:xfrm>
            <a:off x="10067544" y="13944600"/>
            <a:ext cx="201168" cy="0"/>
          </a:xfrm>
          <a:prstGeom prst="line">
            <a:avLst/>
          </a:prstGeom>
          <a:noFill/>
          <a:ln w="38100">
            <a:solidFill>
              <a:srgbClr val="95E0B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10296144" y="12024360"/>
            <a:ext cx="4608576" cy="3794760"/>
          </a:xfrm>
          <a:prstGeom prst="rect">
            <a:avLst/>
          </a:prstGeom>
          <a:solidFill>
            <a:srgbClr val="5C2F8A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5" name="Text 53"/>
          <p:cNvSpPr/>
          <p:nvPr/>
        </p:nvSpPr>
        <p:spPr>
          <a:xfrm>
            <a:off x="10296144" y="12161520"/>
            <a:ext cx="460857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Database</a:t>
            </a:r>
            <a:endParaRPr lang="en-US" sz="2700" dirty="0"/>
          </a:p>
        </p:txBody>
      </p:sp>
      <p:sp>
        <p:nvSpPr>
          <p:cNvPr id="56" name="Shape 54"/>
          <p:cNvSpPr/>
          <p:nvPr/>
        </p:nvSpPr>
        <p:spPr>
          <a:xfrm>
            <a:off x="10460736" y="12792456"/>
            <a:ext cx="4279392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Text 55"/>
          <p:cNvSpPr/>
          <p:nvPr/>
        </p:nvSpPr>
        <p:spPr>
          <a:xfrm>
            <a:off x="10296144" y="12975336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RavenDB 7.2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>
            <a:off x="10296144" y="13670280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Document Store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10296144" y="14365224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Vector Index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10296144" y="15060168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ByVector</a:t>
            </a:r>
            <a:endParaRPr lang="en-US" sz="1900" dirty="0"/>
          </a:p>
        </p:txBody>
      </p:sp>
      <p:sp>
        <p:nvSpPr>
          <p:cNvPr id="61" name="Shape 59"/>
          <p:cNvSpPr/>
          <p:nvPr/>
        </p:nvSpPr>
        <p:spPr>
          <a:xfrm>
            <a:off x="14932152" y="13944600"/>
            <a:ext cx="201168" cy="0"/>
          </a:xfrm>
          <a:prstGeom prst="line">
            <a:avLst/>
          </a:prstGeom>
          <a:noFill/>
          <a:ln w="38100">
            <a:solidFill>
              <a:srgbClr val="95E0B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15160752" y="12024360"/>
            <a:ext cx="4608576" cy="3794760"/>
          </a:xfrm>
          <a:prstGeom prst="rect">
            <a:avLst/>
          </a:prstGeom>
          <a:solidFill>
            <a:srgbClr val="8A6A10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15160752" y="12161520"/>
            <a:ext cx="460857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AI Engine</a:t>
            </a:r>
            <a:endParaRPr lang="en-US" sz="2700" dirty="0"/>
          </a:p>
        </p:txBody>
      </p:sp>
      <p:sp>
        <p:nvSpPr>
          <p:cNvPr id="64" name="Shape 62"/>
          <p:cNvSpPr/>
          <p:nvPr/>
        </p:nvSpPr>
        <p:spPr>
          <a:xfrm>
            <a:off x="15325344" y="12792456"/>
            <a:ext cx="4279392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5" name="Text 63"/>
          <p:cNvSpPr/>
          <p:nvPr/>
        </p:nvSpPr>
        <p:spPr>
          <a:xfrm>
            <a:off x="15160752" y="12975336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OpenAI GPT-4</a:t>
            </a:r>
            <a:endParaRPr lang="en-US" sz="1900" dirty="0"/>
          </a:p>
        </p:txBody>
      </p:sp>
      <p:sp>
        <p:nvSpPr>
          <p:cNvPr id="66" name="Text 64"/>
          <p:cNvSpPr/>
          <p:nvPr/>
        </p:nvSpPr>
        <p:spPr>
          <a:xfrm>
            <a:off x="15160752" y="13670280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text-embedding-3</a:t>
            </a:r>
            <a:endParaRPr lang="en-US" sz="1900" dirty="0"/>
          </a:p>
        </p:txBody>
      </p:sp>
      <p:sp>
        <p:nvSpPr>
          <p:cNvPr id="67" name="Text 65"/>
          <p:cNvSpPr/>
          <p:nvPr/>
        </p:nvSpPr>
        <p:spPr>
          <a:xfrm>
            <a:off x="15160752" y="14365224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Clinical Summary</a:t>
            </a:r>
            <a:endParaRPr lang="en-US" sz="1900" dirty="0"/>
          </a:p>
        </p:txBody>
      </p:sp>
      <p:sp>
        <p:nvSpPr>
          <p:cNvPr id="68" name="Text 66"/>
          <p:cNvSpPr/>
          <p:nvPr/>
        </p:nvSpPr>
        <p:spPr>
          <a:xfrm>
            <a:off x="15160752" y="15060168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Triage Logic</a:t>
            </a:r>
            <a:endParaRPr lang="en-US" sz="1900" dirty="0"/>
          </a:p>
        </p:txBody>
      </p:sp>
      <p:sp>
        <p:nvSpPr>
          <p:cNvPr id="69" name="Shape 67"/>
          <p:cNvSpPr/>
          <p:nvPr/>
        </p:nvSpPr>
        <p:spPr>
          <a:xfrm>
            <a:off x="19796760" y="13944600"/>
            <a:ext cx="201168" cy="0"/>
          </a:xfrm>
          <a:prstGeom prst="line">
            <a:avLst/>
          </a:prstGeom>
          <a:noFill/>
          <a:ln w="38100">
            <a:solidFill>
              <a:srgbClr val="95E0B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0" name="Shape 68"/>
          <p:cNvSpPr/>
          <p:nvPr/>
        </p:nvSpPr>
        <p:spPr>
          <a:xfrm>
            <a:off x="20025360" y="12024360"/>
            <a:ext cx="4608576" cy="3794760"/>
          </a:xfrm>
          <a:prstGeom prst="rect">
            <a:avLst/>
          </a:prstGeom>
          <a:solidFill>
            <a:srgbClr val="8A2020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20025360" y="12161520"/>
            <a:ext cx="460857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Services</a:t>
            </a:r>
            <a:endParaRPr lang="en-US" sz="2700" dirty="0"/>
          </a:p>
        </p:txBody>
      </p:sp>
      <p:sp>
        <p:nvSpPr>
          <p:cNvPr id="72" name="Shape 70"/>
          <p:cNvSpPr/>
          <p:nvPr/>
        </p:nvSpPr>
        <p:spPr>
          <a:xfrm>
            <a:off x="20189952" y="12792456"/>
            <a:ext cx="4279392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20025360" y="12975336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SignalR Chat</a:t>
            </a:r>
            <a:endParaRPr lang="en-US" sz="1900" dirty="0"/>
          </a:p>
        </p:txBody>
      </p:sp>
      <p:sp>
        <p:nvSpPr>
          <p:cNvPr id="74" name="Text 72"/>
          <p:cNvSpPr/>
          <p:nvPr/>
        </p:nvSpPr>
        <p:spPr>
          <a:xfrm>
            <a:off x="20025360" y="13670280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Stripe Billing</a:t>
            </a:r>
            <a:endParaRPr lang="en-US" sz="1900" dirty="0"/>
          </a:p>
        </p:txBody>
      </p:sp>
      <p:sp>
        <p:nvSpPr>
          <p:cNvPr id="75" name="Text 73"/>
          <p:cNvSpPr/>
          <p:nvPr/>
        </p:nvSpPr>
        <p:spPr>
          <a:xfrm>
            <a:off x="20025360" y="14365224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AES-256 Encrypt</a:t>
            </a:r>
            <a:endParaRPr lang="en-US" sz="1900" dirty="0"/>
          </a:p>
        </p:txBody>
      </p:sp>
      <p:sp>
        <p:nvSpPr>
          <p:cNvPr id="76" name="Text 74"/>
          <p:cNvSpPr/>
          <p:nvPr/>
        </p:nvSpPr>
        <p:spPr>
          <a:xfrm>
            <a:off x="20025360" y="15060168"/>
            <a:ext cx="4608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 rtl="1">
              <a:buNone/>
            </a:pPr>
            <a:r>
              <a:rPr lang="en-US" sz="19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Audit Log</a:t>
            </a:r>
            <a:endParaRPr lang="en-US" sz="1900" dirty="0"/>
          </a:p>
        </p:txBody>
      </p:sp>
      <p:sp>
        <p:nvSpPr>
          <p:cNvPr id="77" name="Shape 75"/>
          <p:cNvSpPr/>
          <p:nvPr/>
        </p:nvSpPr>
        <p:spPr>
          <a:xfrm>
            <a:off x="365760" y="16367760"/>
            <a:ext cx="12051792" cy="5303520"/>
          </a:xfrm>
          <a:prstGeom prst="rect">
            <a:avLst/>
          </a:prstGeom>
          <a:solidFill>
            <a:srgbClr val="102030"/>
          </a:solidFill>
          <a:ln w="15240">
            <a:solidFill>
              <a:srgbClr val="2D9C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8" name="Text 76"/>
          <p:cNvSpPr/>
          <p:nvPr/>
        </p:nvSpPr>
        <p:spPr>
          <a:xfrm>
            <a:off x="566928" y="16532352"/>
            <a:ext cx="1164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משתמשי המערכת</a:t>
            </a:r>
            <a:endParaRPr lang="en-US" sz="3800" dirty="0"/>
          </a:p>
        </p:txBody>
      </p:sp>
      <p:sp>
        <p:nvSpPr>
          <p:cNvPr id="79" name="Shape 77"/>
          <p:cNvSpPr/>
          <p:nvPr/>
        </p:nvSpPr>
        <p:spPr>
          <a:xfrm>
            <a:off x="566928" y="17327880"/>
            <a:ext cx="11649456" cy="1316736"/>
          </a:xfrm>
          <a:prstGeom prst="rect">
            <a:avLst/>
          </a:prstGeom>
          <a:solidFill>
            <a:srgbClr val="172840"/>
          </a:solidFill>
          <a:ln w="1524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0" name="Text 78"/>
          <p:cNvSpPr/>
          <p:nvPr/>
        </p:nvSpPr>
        <p:spPr>
          <a:xfrm>
            <a:off x="694944" y="1741932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מטופל</a:t>
            </a:r>
            <a:endParaRPr lang="en-US" sz="2800" dirty="0"/>
          </a:p>
        </p:txBody>
      </p:sp>
      <p:sp>
        <p:nvSpPr>
          <p:cNvPr id="81" name="Text 79"/>
          <p:cNvSpPr/>
          <p:nvPr/>
        </p:nvSpPr>
        <p:spPr>
          <a:xfrm>
            <a:off x="694944" y="17986248"/>
            <a:ext cx="11320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מלא שאלון AI  ·  חפש מטפל  ·  קבע פגישה  ·  שלם  ·  צ'אט</a:t>
            </a:r>
            <a:endParaRPr lang="en-US" sz="1700" dirty="0"/>
          </a:p>
        </p:txBody>
      </p:sp>
      <p:sp>
        <p:nvSpPr>
          <p:cNvPr id="82" name="Shape 80"/>
          <p:cNvSpPr/>
          <p:nvPr/>
        </p:nvSpPr>
        <p:spPr>
          <a:xfrm>
            <a:off x="566928" y="18772632"/>
            <a:ext cx="11649456" cy="1316736"/>
          </a:xfrm>
          <a:prstGeom prst="rect">
            <a:avLst/>
          </a:prstGeom>
          <a:solidFill>
            <a:srgbClr val="172840"/>
          </a:solidFill>
          <a:ln w="1524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694944" y="188640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5B9BD5"/>
                </a:solidFill>
                <a:ea typeface="Arial" pitchFamily="34" charset="-122"/>
                <a:cs typeface="Arial" pitchFamily="34" charset="-120"/>
              </a:rPr>
              <a:t>מטפל</a:t>
            </a:r>
            <a:endParaRPr lang="en-US" sz="2800" dirty="0"/>
          </a:p>
        </p:txBody>
      </p:sp>
      <p:sp>
        <p:nvSpPr>
          <p:cNvPr id="84" name="Text 82"/>
          <p:cNvSpPr/>
          <p:nvPr/>
        </p:nvSpPr>
        <p:spPr>
          <a:xfrm>
            <a:off x="694944" y="19431000"/>
            <a:ext cx="11320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הירשם ואושר  ·  קבל בקשות  ·  נהל זמינות  ·  שוחח</a:t>
            </a:r>
            <a:endParaRPr lang="en-US" sz="1700" dirty="0"/>
          </a:p>
        </p:txBody>
      </p:sp>
      <p:sp>
        <p:nvSpPr>
          <p:cNvPr id="85" name="Shape 83"/>
          <p:cNvSpPr/>
          <p:nvPr/>
        </p:nvSpPr>
        <p:spPr>
          <a:xfrm>
            <a:off x="566928" y="20217384"/>
            <a:ext cx="11649456" cy="1316736"/>
          </a:xfrm>
          <a:prstGeom prst="rect">
            <a:avLst/>
          </a:prstGeom>
          <a:solidFill>
            <a:srgbClr val="172840"/>
          </a:solidFill>
          <a:ln w="15240">
            <a:solidFill>
              <a:srgbClr val="D4A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6" name="Text 84"/>
          <p:cNvSpPr/>
          <p:nvPr/>
        </p:nvSpPr>
        <p:spPr>
          <a:xfrm>
            <a:off x="694944" y="2030882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D4A256"/>
                </a:solidFill>
                <a:ea typeface="Arial" pitchFamily="34" charset="-122"/>
                <a:cs typeface="Arial" pitchFamily="34" charset="-120"/>
              </a:rPr>
              <a:t>אדמין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694944" y="20875752"/>
            <a:ext cx="11320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אשר מטפלים  ·  נהל משתמשים  ·  צפה בסטטיסטיקות</a:t>
            </a:r>
            <a:endParaRPr lang="en-US" sz="1700" dirty="0"/>
          </a:p>
        </p:txBody>
      </p:sp>
      <p:sp>
        <p:nvSpPr>
          <p:cNvPr id="88" name="Shape 86"/>
          <p:cNvSpPr/>
          <p:nvPr/>
        </p:nvSpPr>
        <p:spPr>
          <a:xfrm>
            <a:off x="12783312" y="16367760"/>
            <a:ext cx="12051792" cy="5303520"/>
          </a:xfrm>
          <a:prstGeom prst="rect">
            <a:avLst/>
          </a:prstGeom>
          <a:solidFill>
            <a:srgbClr val="102030"/>
          </a:solidFill>
          <a:ln w="15240">
            <a:solidFill>
              <a:srgbClr val="2D9C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9" name="Text 87"/>
          <p:cNvSpPr/>
          <p:nvPr/>
        </p:nvSpPr>
        <p:spPr>
          <a:xfrm>
            <a:off x="12984480" y="16532352"/>
            <a:ext cx="1164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מסכי המערכת המרכזיים</a:t>
            </a:r>
            <a:endParaRPr lang="en-US" sz="3800" dirty="0"/>
          </a:p>
        </p:txBody>
      </p:sp>
      <p:sp>
        <p:nvSpPr>
          <p:cNvPr id="90" name="Shape 88"/>
          <p:cNvSpPr/>
          <p:nvPr/>
        </p:nvSpPr>
        <p:spPr>
          <a:xfrm>
            <a:off x="12984480" y="17437608"/>
            <a:ext cx="73152" cy="62179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1" name="Text 89"/>
          <p:cNvSpPr/>
          <p:nvPr/>
        </p:nvSpPr>
        <p:spPr>
          <a:xfrm>
            <a:off x="13185648" y="17401032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דף הבית</a:t>
            </a:r>
            <a:endParaRPr lang="en-US" sz="2300" dirty="0"/>
          </a:p>
        </p:txBody>
      </p:sp>
      <p:sp>
        <p:nvSpPr>
          <p:cNvPr id="92" name="Text 90"/>
          <p:cNvSpPr/>
          <p:nvPr/>
        </p:nvSpPr>
        <p:spPr>
          <a:xfrm>
            <a:off x="13185648" y="1778508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Hero section + ניווט + LanguageToggle עברית/אנגלית</a:t>
            </a:r>
            <a:endParaRPr lang="en-US" sz="1700" dirty="0"/>
          </a:p>
        </p:txBody>
      </p:sp>
      <p:sp>
        <p:nvSpPr>
          <p:cNvPr id="93" name="Shape 91"/>
          <p:cNvSpPr/>
          <p:nvPr/>
        </p:nvSpPr>
        <p:spPr>
          <a:xfrm>
            <a:off x="12984480" y="18297144"/>
            <a:ext cx="73152" cy="62179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4" name="Text 92"/>
          <p:cNvSpPr/>
          <p:nvPr/>
        </p:nvSpPr>
        <p:spPr>
          <a:xfrm>
            <a:off x="13185648" y="182605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תיאוש AI</a:t>
            </a:r>
            <a:endParaRPr lang="en-US" sz="2300" dirty="0"/>
          </a:p>
        </p:txBody>
      </p:sp>
      <p:sp>
        <p:nvSpPr>
          <p:cNvPr id="95" name="Text 93"/>
          <p:cNvSpPr/>
          <p:nvPr/>
        </p:nvSpPr>
        <p:spPr>
          <a:xfrm>
            <a:off x="13185648" y="18644616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שאלון רגשי → סיכום GPT-4 → 3 מטפלים מומלצים</a:t>
            </a:r>
            <a:endParaRPr lang="en-US" sz="1700" dirty="0"/>
          </a:p>
        </p:txBody>
      </p:sp>
      <p:sp>
        <p:nvSpPr>
          <p:cNvPr id="96" name="Shape 94"/>
          <p:cNvSpPr/>
          <p:nvPr/>
        </p:nvSpPr>
        <p:spPr>
          <a:xfrm>
            <a:off x="12984480" y="19156680"/>
            <a:ext cx="73152" cy="62179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7" name="Text 95"/>
          <p:cNvSpPr/>
          <p:nvPr/>
        </p:nvSpPr>
        <p:spPr>
          <a:xfrm>
            <a:off x="13185648" y="19120104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דשבורד מטופל</a:t>
            </a:r>
            <a:endParaRPr lang="en-US" sz="2300" dirty="0"/>
          </a:p>
        </p:txBody>
      </p:sp>
      <p:sp>
        <p:nvSpPr>
          <p:cNvPr id="98" name="Text 96"/>
          <p:cNvSpPr/>
          <p:nvPr/>
        </p:nvSpPr>
        <p:spPr>
          <a:xfrm>
            <a:off x="13185648" y="19504152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סקירה כללית, היסטוריית פגישות AI, הזמנת פגישה</a:t>
            </a:r>
            <a:endParaRPr lang="en-US" sz="1700" dirty="0"/>
          </a:p>
        </p:txBody>
      </p:sp>
      <p:sp>
        <p:nvSpPr>
          <p:cNvPr id="99" name="Shape 97"/>
          <p:cNvSpPr/>
          <p:nvPr/>
        </p:nvSpPr>
        <p:spPr>
          <a:xfrm>
            <a:off x="12984480" y="20016216"/>
            <a:ext cx="73152" cy="62179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0" name="Text 98"/>
          <p:cNvSpPr/>
          <p:nvPr/>
        </p:nvSpPr>
        <p:spPr>
          <a:xfrm>
            <a:off x="13185648" y="1997964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פרופיל מטפל</a:t>
            </a:r>
            <a:endParaRPr lang="en-US" sz="2300" dirty="0"/>
          </a:p>
        </p:txBody>
      </p:sp>
      <p:sp>
        <p:nvSpPr>
          <p:cNvPr id="101" name="Text 99"/>
          <p:cNvSpPr/>
          <p:nvPr/>
        </p:nvSpPr>
        <p:spPr>
          <a:xfrm>
            <a:off x="13185648" y="2036368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ביו, התמחויות, זמינות, ביקורות, הזמנה מיידית</a:t>
            </a:r>
            <a:endParaRPr lang="en-US" sz="1700" dirty="0"/>
          </a:p>
        </p:txBody>
      </p:sp>
      <p:sp>
        <p:nvSpPr>
          <p:cNvPr id="102" name="Shape 100"/>
          <p:cNvSpPr/>
          <p:nvPr/>
        </p:nvSpPr>
        <p:spPr>
          <a:xfrm>
            <a:off x="12984480" y="20875752"/>
            <a:ext cx="73152" cy="621792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3" name="Text 101"/>
          <p:cNvSpPr/>
          <p:nvPr/>
        </p:nvSpPr>
        <p:spPr>
          <a:xfrm>
            <a:off x="13185648" y="2083917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דשבורד מטפל</a:t>
            </a:r>
            <a:endParaRPr lang="en-US" sz="2300" dirty="0"/>
          </a:p>
        </p:txBody>
      </p:sp>
      <p:sp>
        <p:nvSpPr>
          <p:cNvPr id="104" name="Text 102"/>
          <p:cNvSpPr/>
          <p:nvPr/>
        </p:nvSpPr>
        <p:spPr>
          <a:xfrm>
            <a:off x="13185648" y="2122322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ConsultationQueue, ניהול לו"ז, צ'אט בזמן אמת</a:t>
            </a:r>
            <a:endParaRPr lang="en-US" sz="1700" dirty="0"/>
          </a:p>
        </p:txBody>
      </p:sp>
      <p:sp>
        <p:nvSpPr>
          <p:cNvPr id="105" name="Shape 103"/>
          <p:cNvSpPr/>
          <p:nvPr/>
        </p:nvSpPr>
        <p:spPr>
          <a:xfrm>
            <a:off x="0" y="21899880"/>
            <a:ext cx="25200864" cy="5760720"/>
          </a:xfrm>
          <a:prstGeom prst="rect">
            <a:avLst/>
          </a:prstGeom>
          <a:solidFill>
            <a:srgbClr val="0D3020"/>
          </a:solidFill>
          <a:ln w="12700">
            <a:solidFill>
              <a:srgbClr val="0D302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6" name="Shape 104"/>
          <p:cNvSpPr/>
          <p:nvPr/>
        </p:nvSpPr>
        <p:spPr>
          <a:xfrm>
            <a:off x="0" y="21899880"/>
            <a:ext cx="25200864" cy="14630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7" name="Shape 105"/>
          <p:cNvSpPr/>
          <p:nvPr/>
        </p:nvSpPr>
        <p:spPr>
          <a:xfrm>
            <a:off x="0" y="27514296"/>
            <a:ext cx="25200864" cy="14630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8" name="Text 106"/>
          <p:cNvSpPr/>
          <p:nvPr/>
        </p:nvSpPr>
        <p:spPr>
          <a:xfrm>
            <a:off x="566928" y="22064472"/>
            <a:ext cx="2406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האלמנט החכם — AI Triage &amp; Vector Matching</a:t>
            </a:r>
            <a:endParaRPr lang="en-US" sz="3800" dirty="0"/>
          </a:p>
        </p:txBody>
      </p:sp>
      <p:sp>
        <p:nvSpPr>
          <p:cNvPr id="109" name="Shape 107"/>
          <p:cNvSpPr/>
          <p:nvPr/>
        </p:nvSpPr>
        <p:spPr>
          <a:xfrm>
            <a:off x="566928" y="22905720"/>
            <a:ext cx="4608576" cy="4389120"/>
          </a:xfrm>
          <a:prstGeom prst="rect">
            <a:avLst/>
          </a:prstGeom>
          <a:solidFill>
            <a:srgbClr val="0A2C1C"/>
          </a:solidFill>
          <a:ln w="1524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0" name="Shape 108"/>
          <p:cNvSpPr/>
          <p:nvPr/>
        </p:nvSpPr>
        <p:spPr>
          <a:xfrm>
            <a:off x="2414016" y="23161752"/>
            <a:ext cx="914400" cy="914400"/>
          </a:xfrm>
          <a:prstGeom prst="ellipse">
            <a:avLst/>
          </a:prstGeom>
          <a:solidFill>
            <a:srgbClr val="2D9C6B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1" name="Text 109"/>
          <p:cNvSpPr/>
          <p:nvPr/>
        </p:nvSpPr>
        <p:spPr>
          <a:xfrm>
            <a:off x="2414016" y="23381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2" name="Text 110"/>
          <p:cNvSpPr/>
          <p:nvPr/>
        </p:nvSpPr>
        <p:spPr>
          <a:xfrm>
            <a:off x="566928" y="24277320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שאלון קליני</a:t>
            </a:r>
            <a:endParaRPr lang="en-US" sz="2200" dirty="0"/>
          </a:p>
        </p:txBody>
      </p:sp>
      <p:sp>
        <p:nvSpPr>
          <p:cNvPr id="113" name="Text 111"/>
          <p:cNvSpPr/>
          <p:nvPr/>
        </p:nvSpPr>
        <p:spPr>
          <a:xfrm>
            <a:off x="566928" y="24871680"/>
            <a:ext cx="4608576" cy="2194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המטופל עונה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שאלות רגשיות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מובנות</a:t>
            </a:r>
            <a:endParaRPr lang="en-US" sz="2000" dirty="0"/>
          </a:p>
        </p:txBody>
      </p:sp>
      <p:sp>
        <p:nvSpPr>
          <p:cNvPr id="114" name="Shape 112"/>
          <p:cNvSpPr/>
          <p:nvPr/>
        </p:nvSpPr>
        <p:spPr>
          <a:xfrm>
            <a:off x="5202936" y="25283160"/>
            <a:ext cx="201168" cy="0"/>
          </a:xfrm>
          <a:prstGeom prst="line">
            <a:avLst/>
          </a:prstGeom>
          <a:noFill/>
          <a:ln w="50800">
            <a:solidFill>
              <a:srgbClr val="95E0B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5" name="Shape 113"/>
          <p:cNvSpPr/>
          <p:nvPr/>
        </p:nvSpPr>
        <p:spPr>
          <a:xfrm>
            <a:off x="5431536" y="22905720"/>
            <a:ext cx="4608576" cy="4389120"/>
          </a:xfrm>
          <a:prstGeom prst="rect">
            <a:avLst/>
          </a:prstGeom>
          <a:solidFill>
            <a:srgbClr val="0A2C1C"/>
          </a:solidFill>
          <a:ln w="1524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6" name="Shape 114"/>
          <p:cNvSpPr/>
          <p:nvPr/>
        </p:nvSpPr>
        <p:spPr>
          <a:xfrm>
            <a:off x="7278624" y="23161752"/>
            <a:ext cx="914400" cy="914400"/>
          </a:xfrm>
          <a:prstGeom prst="ellipse">
            <a:avLst/>
          </a:prstGeom>
          <a:solidFill>
            <a:srgbClr val="2D9C6B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7" name="Text 115"/>
          <p:cNvSpPr/>
          <p:nvPr/>
        </p:nvSpPr>
        <p:spPr>
          <a:xfrm>
            <a:off x="7278624" y="23381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8" name="Text 116"/>
          <p:cNvSpPr/>
          <p:nvPr/>
        </p:nvSpPr>
        <p:spPr>
          <a:xfrm>
            <a:off x="5431536" y="24277320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GPT-4 Summary</a:t>
            </a:r>
            <a:endParaRPr lang="en-US" sz="2200" dirty="0"/>
          </a:p>
        </p:txBody>
      </p:sp>
      <p:sp>
        <p:nvSpPr>
          <p:cNvPr id="119" name="Text 117"/>
          <p:cNvSpPr/>
          <p:nvPr/>
        </p:nvSpPr>
        <p:spPr>
          <a:xfrm>
            <a:off x="5431536" y="24871680"/>
            <a:ext cx="4608576" cy="2194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ניתוח תשובות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וסיכום קליני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בזמן אמת</a:t>
            </a:r>
            <a:endParaRPr lang="en-US" sz="2000" dirty="0"/>
          </a:p>
        </p:txBody>
      </p:sp>
      <p:sp>
        <p:nvSpPr>
          <p:cNvPr id="120" name="Shape 118"/>
          <p:cNvSpPr/>
          <p:nvPr/>
        </p:nvSpPr>
        <p:spPr>
          <a:xfrm>
            <a:off x="10067544" y="25283160"/>
            <a:ext cx="201168" cy="0"/>
          </a:xfrm>
          <a:prstGeom prst="line">
            <a:avLst/>
          </a:prstGeom>
          <a:noFill/>
          <a:ln w="50800">
            <a:solidFill>
              <a:srgbClr val="95E0B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1" name="Shape 119"/>
          <p:cNvSpPr/>
          <p:nvPr/>
        </p:nvSpPr>
        <p:spPr>
          <a:xfrm>
            <a:off x="10296144" y="22905720"/>
            <a:ext cx="4608576" cy="4389120"/>
          </a:xfrm>
          <a:prstGeom prst="rect">
            <a:avLst/>
          </a:prstGeom>
          <a:solidFill>
            <a:srgbClr val="0A2C1C"/>
          </a:solidFill>
          <a:ln w="1524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Shape 120"/>
          <p:cNvSpPr/>
          <p:nvPr/>
        </p:nvSpPr>
        <p:spPr>
          <a:xfrm>
            <a:off x="12143232" y="23161752"/>
            <a:ext cx="914400" cy="914400"/>
          </a:xfrm>
          <a:prstGeom prst="ellipse">
            <a:avLst/>
          </a:prstGeom>
          <a:solidFill>
            <a:srgbClr val="2D9C6B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3" name="Text 121"/>
          <p:cNvSpPr/>
          <p:nvPr/>
        </p:nvSpPr>
        <p:spPr>
          <a:xfrm>
            <a:off x="12143232" y="23381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24" name="Text 122"/>
          <p:cNvSpPr/>
          <p:nvPr/>
        </p:nvSpPr>
        <p:spPr>
          <a:xfrm>
            <a:off x="10296144" y="24277320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Embedding</a:t>
            </a:r>
            <a:endParaRPr lang="en-US" sz="2200" dirty="0"/>
          </a:p>
        </p:txBody>
      </p:sp>
      <p:sp>
        <p:nvSpPr>
          <p:cNvPr id="125" name="Text 123"/>
          <p:cNvSpPr/>
          <p:nvPr/>
        </p:nvSpPr>
        <p:spPr>
          <a:xfrm>
            <a:off x="10296144" y="24871680"/>
            <a:ext cx="4608576" cy="2194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וקטור 1536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מימדי נוצר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ע"י OpenAI</a:t>
            </a:r>
            <a:endParaRPr lang="en-US" sz="2000" dirty="0"/>
          </a:p>
        </p:txBody>
      </p:sp>
      <p:sp>
        <p:nvSpPr>
          <p:cNvPr id="126" name="Shape 124"/>
          <p:cNvSpPr/>
          <p:nvPr/>
        </p:nvSpPr>
        <p:spPr>
          <a:xfrm>
            <a:off x="14932152" y="25283160"/>
            <a:ext cx="201168" cy="0"/>
          </a:xfrm>
          <a:prstGeom prst="line">
            <a:avLst/>
          </a:prstGeom>
          <a:noFill/>
          <a:ln w="50800">
            <a:solidFill>
              <a:srgbClr val="95E0B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7" name="Shape 125"/>
          <p:cNvSpPr/>
          <p:nvPr/>
        </p:nvSpPr>
        <p:spPr>
          <a:xfrm>
            <a:off x="15160752" y="22905720"/>
            <a:ext cx="4608576" cy="4389120"/>
          </a:xfrm>
          <a:prstGeom prst="rect">
            <a:avLst/>
          </a:prstGeom>
          <a:solidFill>
            <a:srgbClr val="0A2C1C"/>
          </a:solidFill>
          <a:ln w="1524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8" name="Shape 126"/>
          <p:cNvSpPr/>
          <p:nvPr/>
        </p:nvSpPr>
        <p:spPr>
          <a:xfrm>
            <a:off x="17007840" y="23161752"/>
            <a:ext cx="914400" cy="914400"/>
          </a:xfrm>
          <a:prstGeom prst="ellipse">
            <a:avLst/>
          </a:prstGeom>
          <a:solidFill>
            <a:srgbClr val="2D9C6B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9" name="Text 127"/>
          <p:cNvSpPr/>
          <p:nvPr/>
        </p:nvSpPr>
        <p:spPr>
          <a:xfrm>
            <a:off x="17007840" y="23381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30" name="Text 128"/>
          <p:cNvSpPr/>
          <p:nvPr/>
        </p:nvSpPr>
        <p:spPr>
          <a:xfrm>
            <a:off x="15160752" y="24277320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Vector Search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15160752" y="24871680"/>
            <a:ext cx="4608576" cy="2194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חיפוש cosine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ב-RavenDB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ByVector Index</a:t>
            </a:r>
            <a:endParaRPr lang="en-US" sz="2000" dirty="0"/>
          </a:p>
        </p:txBody>
      </p:sp>
      <p:sp>
        <p:nvSpPr>
          <p:cNvPr id="132" name="Shape 130"/>
          <p:cNvSpPr/>
          <p:nvPr/>
        </p:nvSpPr>
        <p:spPr>
          <a:xfrm>
            <a:off x="19796760" y="25283160"/>
            <a:ext cx="201168" cy="0"/>
          </a:xfrm>
          <a:prstGeom prst="line">
            <a:avLst/>
          </a:prstGeom>
          <a:noFill/>
          <a:ln w="50800">
            <a:solidFill>
              <a:srgbClr val="95E0B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3" name="Shape 131"/>
          <p:cNvSpPr/>
          <p:nvPr/>
        </p:nvSpPr>
        <p:spPr>
          <a:xfrm>
            <a:off x="20025360" y="22905720"/>
            <a:ext cx="4608576" cy="4389120"/>
          </a:xfrm>
          <a:prstGeom prst="rect">
            <a:avLst/>
          </a:prstGeom>
          <a:solidFill>
            <a:srgbClr val="0A2C1C"/>
          </a:solidFill>
          <a:ln w="1524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4" name="Shape 132"/>
          <p:cNvSpPr/>
          <p:nvPr/>
        </p:nvSpPr>
        <p:spPr>
          <a:xfrm>
            <a:off x="21872448" y="23161752"/>
            <a:ext cx="914400" cy="914400"/>
          </a:xfrm>
          <a:prstGeom prst="ellipse">
            <a:avLst/>
          </a:prstGeom>
          <a:solidFill>
            <a:srgbClr val="2D9C6B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5" name="Text 133"/>
          <p:cNvSpPr/>
          <p:nvPr/>
        </p:nvSpPr>
        <p:spPr>
          <a:xfrm>
            <a:off x="21872448" y="23381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36" name="Text 134"/>
          <p:cNvSpPr/>
          <p:nvPr/>
        </p:nvSpPr>
        <p:spPr>
          <a:xfrm>
            <a:off x="20025360" y="24277320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5E0BE"/>
                </a:solidFill>
                <a:ea typeface="Arial" pitchFamily="34" charset="-122"/>
                <a:cs typeface="Arial" pitchFamily="34" charset="-120"/>
              </a:rPr>
              <a:t>3 התאמות</a:t>
            </a:r>
            <a:endParaRPr lang="en-US" sz="2200" dirty="0"/>
          </a:p>
        </p:txBody>
      </p:sp>
      <p:sp>
        <p:nvSpPr>
          <p:cNvPr id="137" name="Text 135"/>
          <p:cNvSpPr/>
          <p:nvPr/>
        </p:nvSpPr>
        <p:spPr>
          <a:xfrm>
            <a:off x="20025360" y="24871680"/>
            <a:ext cx="4608576" cy="2194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3 מטפלים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מתאימים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מוצגים למטופל</a:t>
            </a:r>
            <a:endParaRPr lang="en-US" sz="2000" dirty="0"/>
          </a:p>
        </p:txBody>
      </p:sp>
      <p:sp>
        <p:nvSpPr>
          <p:cNvPr id="138" name="Shape 136"/>
          <p:cNvSpPr/>
          <p:nvPr/>
        </p:nvSpPr>
        <p:spPr>
          <a:xfrm>
            <a:off x="365760" y="27889200"/>
            <a:ext cx="12051792" cy="7223760"/>
          </a:xfrm>
          <a:prstGeom prst="rect">
            <a:avLst/>
          </a:prstGeom>
          <a:solidFill>
            <a:srgbClr val="102030"/>
          </a:solidFill>
          <a:ln w="15240">
            <a:solidFill>
              <a:srgbClr val="2D9C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9" name="Text 137"/>
          <p:cNvSpPr/>
          <p:nvPr/>
        </p:nvSpPr>
        <p:spPr>
          <a:xfrm>
            <a:off x="566928" y="28053792"/>
            <a:ext cx="1164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תוצאות</a:t>
            </a:r>
            <a:endParaRPr lang="en-US" sz="3800" dirty="0"/>
          </a:p>
        </p:txBody>
      </p:sp>
      <p:sp>
        <p:nvSpPr>
          <p:cNvPr id="140" name="Shape 138"/>
          <p:cNvSpPr/>
          <p:nvPr/>
        </p:nvSpPr>
        <p:spPr>
          <a:xfrm>
            <a:off x="566928" y="28959048"/>
            <a:ext cx="438912" cy="594360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1" name="Text 139"/>
          <p:cNvSpPr/>
          <p:nvPr/>
        </p:nvSpPr>
        <p:spPr>
          <a:xfrm>
            <a:off x="566928" y="2895904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2" name="Text 140"/>
          <p:cNvSpPr/>
          <p:nvPr/>
        </p:nvSpPr>
        <p:spPr>
          <a:xfrm>
            <a:off x="1133856" y="28904184"/>
            <a:ext cx="110642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מערכת Full-Stack פונקציונלית עם 5+ מודולים</a:t>
            </a:r>
            <a:endParaRPr lang="en-US" sz="2100" dirty="0"/>
          </a:p>
        </p:txBody>
      </p:sp>
      <p:sp>
        <p:nvSpPr>
          <p:cNvPr id="143" name="Shape 141"/>
          <p:cNvSpPr/>
          <p:nvPr/>
        </p:nvSpPr>
        <p:spPr>
          <a:xfrm>
            <a:off x="566928" y="29827728"/>
            <a:ext cx="438912" cy="594360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4" name="Text 142"/>
          <p:cNvSpPr/>
          <p:nvPr/>
        </p:nvSpPr>
        <p:spPr>
          <a:xfrm>
            <a:off x="566928" y="2982772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5" name="Text 143"/>
          <p:cNvSpPr/>
          <p:nvPr/>
        </p:nvSpPr>
        <p:spPr>
          <a:xfrm>
            <a:off x="1133856" y="29772864"/>
            <a:ext cx="110642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AI Triage + Vector Matching בזמן אמת</a:t>
            </a:r>
            <a:endParaRPr lang="en-US" sz="2100" dirty="0"/>
          </a:p>
        </p:txBody>
      </p:sp>
      <p:sp>
        <p:nvSpPr>
          <p:cNvPr id="146" name="Shape 144"/>
          <p:cNvSpPr/>
          <p:nvPr/>
        </p:nvSpPr>
        <p:spPr>
          <a:xfrm>
            <a:off x="566928" y="30696408"/>
            <a:ext cx="438912" cy="594360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7" name="Text 145"/>
          <p:cNvSpPr/>
          <p:nvPr/>
        </p:nvSpPr>
        <p:spPr>
          <a:xfrm>
            <a:off x="566928" y="3069640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8" name="Text 146"/>
          <p:cNvSpPr/>
          <p:nvPr/>
        </p:nvSpPr>
        <p:spPr>
          <a:xfrm>
            <a:off x="1133856" y="30641544"/>
            <a:ext cx="110642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צ'אט SignalR מטופל ↔ מטפל</a:t>
            </a:r>
            <a:endParaRPr lang="en-US" sz="2100" dirty="0"/>
          </a:p>
        </p:txBody>
      </p:sp>
      <p:sp>
        <p:nvSpPr>
          <p:cNvPr id="149" name="Shape 147"/>
          <p:cNvSpPr/>
          <p:nvPr/>
        </p:nvSpPr>
        <p:spPr>
          <a:xfrm>
            <a:off x="566928" y="31565088"/>
            <a:ext cx="438912" cy="594360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0" name="Text 148"/>
          <p:cNvSpPr/>
          <p:nvPr/>
        </p:nvSpPr>
        <p:spPr>
          <a:xfrm>
            <a:off x="566928" y="3156508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1" name="Text 149"/>
          <p:cNvSpPr/>
          <p:nvPr/>
        </p:nvSpPr>
        <p:spPr>
          <a:xfrm>
            <a:off x="1133856" y="31510224"/>
            <a:ext cx="110642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Stripe לתשלום, החזרים ובוקינג</a:t>
            </a:r>
            <a:endParaRPr lang="en-US" sz="2100" dirty="0"/>
          </a:p>
        </p:txBody>
      </p:sp>
      <p:sp>
        <p:nvSpPr>
          <p:cNvPr id="152" name="Shape 150"/>
          <p:cNvSpPr/>
          <p:nvPr/>
        </p:nvSpPr>
        <p:spPr>
          <a:xfrm>
            <a:off x="566928" y="32433768"/>
            <a:ext cx="438912" cy="594360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3" name="Text 151"/>
          <p:cNvSpPr/>
          <p:nvPr/>
        </p:nvSpPr>
        <p:spPr>
          <a:xfrm>
            <a:off x="566928" y="3243376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4" name="Text 152"/>
          <p:cNvSpPr/>
          <p:nvPr/>
        </p:nvSpPr>
        <p:spPr>
          <a:xfrm>
            <a:off x="1133856" y="32378904"/>
            <a:ext cx="110642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ממשק דו-לשוני עברית/אנגלית (RTL/LTR)</a:t>
            </a:r>
            <a:endParaRPr lang="en-US" sz="2100" dirty="0"/>
          </a:p>
        </p:txBody>
      </p:sp>
      <p:sp>
        <p:nvSpPr>
          <p:cNvPr id="155" name="Shape 153"/>
          <p:cNvSpPr/>
          <p:nvPr/>
        </p:nvSpPr>
        <p:spPr>
          <a:xfrm>
            <a:off x="566928" y="33302448"/>
            <a:ext cx="438912" cy="594360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6" name="Text 154"/>
          <p:cNvSpPr/>
          <p:nvPr/>
        </p:nvSpPr>
        <p:spPr>
          <a:xfrm>
            <a:off x="566928" y="3330244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7" name="Text 155"/>
          <p:cNvSpPr/>
          <p:nvPr/>
        </p:nvSpPr>
        <p:spPr>
          <a:xfrm>
            <a:off x="1133856" y="33247584"/>
            <a:ext cx="110642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JWT + BCrypt + הצפנת AES-256</a:t>
            </a:r>
            <a:endParaRPr lang="en-US" sz="2100" dirty="0"/>
          </a:p>
        </p:txBody>
      </p:sp>
      <p:sp>
        <p:nvSpPr>
          <p:cNvPr id="158" name="Shape 156"/>
          <p:cNvSpPr/>
          <p:nvPr/>
        </p:nvSpPr>
        <p:spPr>
          <a:xfrm>
            <a:off x="566928" y="34171128"/>
            <a:ext cx="438912" cy="594360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9" name="Text 157"/>
          <p:cNvSpPr/>
          <p:nvPr/>
        </p:nvSpPr>
        <p:spPr>
          <a:xfrm>
            <a:off x="566928" y="3417112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60" name="Text 158"/>
          <p:cNvSpPr/>
          <p:nvPr/>
        </p:nvSpPr>
        <p:spPr>
          <a:xfrm>
            <a:off x="1133856" y="34116264"/>
            <a:ext cx="110642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לוחות בקרה למטפל ולאדמין</a:t>
            </a:r>
            <a:endParaRPr lang="en-US" sz="2100" dirty="0"/>
          </a:p>
        </p:txBody>
      </p:sp>
      <p:sp>
        <p:nvSpPr>
          <p:cNvPr id="161" name="Shape 159"/>
          <p:cNvSpPr/>
          <p:nvPr/>
        </p:nvSpPr>
        <p:spPr>
          <a:xfrm>
            <a:off x="12783312" y="27889200"/>
            <a:ext cx="12051792" cy="7223760"/>
          </a:xfrm>
          <a:prstGeom prst="rect">
            <a:avLst/>
          </a:prstGeom>
          <a:solidFill>
            <a:srgbClr val="102030"/>
          </a:solidFill>
          <a:ln w="15240">
            <a:solidFill>
              <a:srgbClr val="2D9C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2" name="Text 160"/>
          <p:cNvSpPr/>
          <p:nvPr/>
        </p:nvSpPr>
        <p:spPr>
          <a:xfrm>
            <a:off x="12984480" y="28053792"/>
            <a:ext cx="1164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מסקנות ועבודה עתידית</a:t>
            </a:r>
            <a:endParaRPr lang="en-US" sz="3800" dirty="0"/>
          </a:p>
        </p:txBody>
      </p:sp>
      <p:sp>
        <p:nvSpPr>
          <p:cNvPr id="163" name="Text 161"/>
          <p:cNvSpPr/>
          <p:nvPr/>
        </p:nvSpPr>
        <p:spPr>
          <a:xfrm>
            <a:off x="12984480" y="28849320"/>
            <a:ext cx="11649456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r" rtl="1">
              <a:buNone/>
            </a:pPr>
            <a:r>
              <a:rPr lang="en-US" sz="22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המערכת הוכיחה כי ניתן לחבר מטופלים למטפלים מוסמכים בצורה חכמה ומאובטחת. שילוב OpenAI Embeddings עם חיפוש וקטורי ב-RavenDB מאפשר התאמה אישית מדויקת שחסרה בפתרונות הקיימים בשוק.</a:t>
            </a:r>
            <a:endParaRPr lang="en-US" sz="2200" dirty="0"/>
          </a:p>
        </p:txBody>
      </p:sp>
      <p:sp>
        <p:nvSpPr>
          <p:cNvPr id="164" name="Text 162"/>
          <p:cNvSpPr/>
          <p:nvPr/>
        </p:nvSpPr>
        <p:spPr>
          <a:xfrm>
            <a:off x="12984480" y="30861000"/>
            <a:ext cx="1164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52B788"/>
                </a:solidFill>
                <a:ea typeface="Arial" pitchFamily="34" charset="-122"/>
                <a:cs typeface="Arial" pitchFamily="34" charset="-120"/>
              </a:rPr>
              <a:t>כיווני פיתוח עתידי:</a:t>
            </a:r>
            <a:endParaRPr lang="en-US" sz="2500" dirty="0"/>
          </a:p>
        </p:txBody>
      </p:sp>
      <p:sp>
        <p:nvSpPr>
          <p:cNvPr id="165" name="Shape 163"/>
          <p:cNvSpPr/>
          <p:nvPr/>
        </p:nvSpPr>
        <p:spPr>
          <a:xfrm>
            <a:off x="24332184" y="31747968"/>
            <a:ext cx="256032" cy="256032"/>
          </a:xfrm>
          <a:prstGeom prst="ellipse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6" name="Text 164"/>
          <p:cNvSpPr/>
          <p:nvPr/>
        </p:nvSpPr>
        <p:spPr>
          <a:xfrm>
            <a:off x="12984480" y="31592520"/>
            <a:ext cx="11228832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אימות רישיון אוטומטי (Selenium + משרד הבריאות)</a:t>
            </a:r>
            <a:endParaRPr lang="en-US" sz="2100" dirty="0"/>
          </a:p>
        </p:txBody>
      </p:sp>
      <p:sp>
        <p:nvSpPr>
          <p:cNvPr id="167" name="Shape 165"/>
          <p:cNvSpPr/>
          <p:nvPr/>
        </p:nvSpPr>
        <p:spPr>
          <a:xfrm>
            <a:off x="24332184" y="32616648"/>
            <a:ext cx="256032" cy="256032"/>
          </a:xfrm>
          <a:prstGeom prst="ellipse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8" name="Text 166"/>
          <p:cNvSpPr/>
          <p:nvPr/>
        </p:nvSpPr>
        <p:spPr>
          <a:xfrm>
            <a:off x="12984480" y="32461200"/>
            <a:ext cx="11228832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ניתוח סנטימנט שיחות בזמן אמת</a:t>
            </a:r>
            <a:endParaRPr lang="en-US" sz="2100" dirty="0"/>
          </a:p>
        </p:txBody>
      </p:sp>
      <p:sp>
        <p:nvSpPr>
          <p:cNvPr id="169" name="Shape 167"/>
          <p:cNvSpPr/>
          <p:nvPr/>
        </p:nvSpPr>
        <p:spPr>
          <a:xfrm>
            <a:off x="24332184" y="33485328"/>
            <a:ext cx="256032" cy="256032"/>
          </a:xfrm>
          <a:prstGeom prst="ellipse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0" name="Text 168"/>
          <p:cNvSpPr/>
          <p:nvPr/>
        </p:nvSpPr>
        <p:spPr>
          <a:xfrm>
            <a:off x="12984480" y="33329880"/>
            <a:ext cx="11228832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אפליקציה מובייל (React Native)</a:t>
            </a:r>
            <a:endParaRPr lang="en-US" sz="2100" dirty="0"/>
          </a:p>
        </p:txBody>
      </p:sp>
      <p:sp>
        <p:nvSpPr>
          <p:cNvPr id="171" name="Shape 169"/>
          <p:cNvSpPr/>
          <p:nvPr/>
        </p:nvSpPr>
        <p:spPr>
          <a:xfrm>
            <a:off x="24332184" y="34354008"/>
            <a:ext cx="256032" cy="256032"/>
          </a:xfrm>
          <a:prstGeom prst="ellipse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2" name="Text 170"/>
          <p:cNvSpPr/>
          <p:nvPr/>
        </p:nvSpPr>
        <p:spPr>
          <a:xfrm>
            <a:off x="12984480" y="34198560"/>
            <a:ext cx="11228832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הרחבת מאגר + בדיקות A/B על ה-Matching</a:t>
            </a:r>
            <a:endParaRPr lang="en-US" sz="2100" dirty="0"/>
          </a:p>
        </p:txBody>
      </p:sp>
      <p:sp>
        <p:nvSpPr>
          <p:cNvPr id="173" name="Shape 171"/>
          <p:cNvSpPr/>
          <p:nvPr/>
        </p:nvSpPr>
        <p:spPr>
          <a:xfrm>
            <a:off x="0" y="35250120"/>
            <a:ext cx="25200864" cy="749808"/>
          </a:xfrm>
          <a:prstGeom prst="rect">
            <a:avLst/>
          </a:prstGeom>
          <a:solidFill>
            <a:srgbClr val="061810"/>
          </a:solidFill>
          <a:ln w="12700">
            <a:solidFill>
              <a:srgbClr val="06181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4" name="Shape 172"/>
          <p:cNvSpPr/>
          <p:nvPr/>
        </p:nvSpPr>
        <p:spPr>
          <a:xfrm>
            <a:off x="0" y="35250120"/>
            <a:ext cx="25200864" cy="109728"/>
          </a:xfrm>
          <a:prstGeom prst="rect">
            <a:avLst/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5" name="Text 173"/>
          <p:cNvSpPr/>
          <p:nvPr/>
        </p:nvSpPr>
        <p:spPr>
          <a:xfrm>
            <a:off x="365760" y="35341560"/>
            <a:ext cx="24469344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 rtl="1">
              <a:buNone/>
            </a:pPr>
            <a:r>
              <a:rPr lang="en-US" sz="2200" dirty="0">
                <a:solidFill>
                  <a:srgbClr val="7FAFC0"/>
                </a:solidFill>
                <a:ea typeface="Arial" pitchFamily="34" charset="-122"/>
                <a:cs typeface="Arial" pitchFamily="34" charset="-120"/>
              </a:rPr>
              <a:t>כנס פרויקטי גמר  |  מדמ"ח תשפ"ו  |  16/7/2026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443</Words>
  <Application>Microsoft Office PowerPoint</Application>
  <PresentationFormat>מותאם אישית</PresentationFormat>
  <Paragraphs>121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4" baseType="lpstr">
      <vt:lpstr>Arial</vt:lpstr>
      <vt:lpstr>Arial Black</vt:lpstr>
      <vt:lpstr>Office Theme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יובל חסין</cp:lastModifiedBy>
  <cp:revision>2</cp:revision>
  <dcterms:created xsi:type="dcterms:W3CDTF">2026-06-17T13:35:41Z</dcterms:created>
  <dcterms:modified xsi:type="dcterms:W3CDTF">2026-06-18T08:57:53Z</dcterms:modified>
</cp:coreProperties>
</file>