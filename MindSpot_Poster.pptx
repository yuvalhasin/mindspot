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864" cy="35999928"/>
  <p:notesSz cx="35999928" cy="2520086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5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200864" cy="5394960"/>
          </a:xfrm>
          <a:prstGeom prst="rect">
            <a:avLst/>
          </a:prstGeom>
          <a:solidFill>
            <a:srgbClr val="100D08"/>
          </a:solidFill>
          <a:ln w="12700">
            <a:solidFill>
              <a:srgbClr val="100D0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200864" cy="1645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5230368"/>
            <a:ext cx="25200864" cy="1645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56032"/>
            <a:ext cx="24469344" cy="58521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המרכז האקדמי רופין  |  המחלקה למדעי המחשב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886968"/>
            <a:ext cx="24469344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24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התמחות: פיתוח מערכות תוכנה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444752"/>
            <a:ext cx="2446934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0" b="1" dirty="0">
                <a:solidFill>
                  <a:srgbClr val="FAF6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Mind</a:t>
            </a:r>
            <a:pPr algn="ctr" indent="0" marL="0">
              <a:buNone/>
            </a:pPr>
            <a:r>
              <a:rPr lang="en-US" sz="14800" b="1" dirty="0">
                <a:solidFill>
                  <a:srgbClr val="D4A04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Spot</a:t>
            </a:r>
            <a:endParaRPr lang="en-US" sz="14800" dirty="0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24469344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3800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פלטפורמת מיקרו-טיפול נפשי חכמה מבוססת AI</a:t>
            </a:r>
            <a:endParaRPr lang="en-US" sz="3800" dirty="0"/>
          </a:p>
        </p:txBody>
      </p:sp>
      <p:sp>
        <p:nvSpPr>
          <p:cNvPr id="9" name="Shape 7"/>
          <p:cNvSpPr/>
          <p:nvPr/>
        </p:nvSpPr>
        <p:spPr>
          <a:xfrm>
            <a:off x="12573000" y="3867912"/>
            <a:ext cx="54864" cy="868680"/>
          </a:xfrm>
          <a:prstGeom prst="rect">
            <a:avLst/>
          </a:prstGeom>
          <a:solidFill>
            <a:srgbClr val="9E8E7A"/>
          </a:solidFill>
          <a:ln w="12700">
            <a:solidFill>
              <a:srgbClr val="9E8E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931920"/>
            <a:ext cx="11686032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יובל חסין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2737592" y="3931920"/>
            <a:ext cx="11731752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מנחה: מר אורן עיני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365760" y="5577840"/>
            <a:ext cx="12051792" cy="530352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574243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 ומוטיבציה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566928" y="6537960"/>
            <a:ext cx="11649456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כ-20% מהאוכלוסייה בישראל סובלים מבעיות נפשיות שאינן מטופלות, עקב זמני המתנה ארוכים, עלות גבוהה וסטיגמה חברתית.</a:t>
            </a:r>
            <a:endParaRPr lang="en-US" sz="2200" dirty="0"/>
          </a:p>
          <a:p>
            <a:pPr rtl="1" algn="r" indent="0" marL="0">
              <a:buNone/>
            </a:pPr>
            <a:endParaRPr lang="en-US" sz="2200" dirty="0"/>
          </a:p>
          <a:p>
            <a:pPr rtl="1" algn="r" indent="0" marL="0">
              <a:buNone/>
            </a:pPr>
            <a:r>
              <a:rPr lang="en-US" sz="22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זמן המתנה ממוצע לפגישה ראשונה: 3–6 חודשים.</a:t>
            </a:r>
            <a:endParaRPr lang="en-US" sz="2200" dirty="0"/>
          </a:p>
          <a:p>
            <a:pPr rtl="1" algn="r" indent="0" marL="0">
              <a:buNone/>
            </a:pPr>
            <a:endParaRPr lang="en-US" sz="2200" dirty="0"/>
          </a:p>
          <a:p>
            <a:pPr rtl="1" algn="r" indent="0" marL="0">
              <a:buNone/>
            </a:pPr>
            <a:r>
              <a:rPr lang="en-US" sz="22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MindSpot מספקת מענה מיידי — מיון AI, התאמה וקטורית למטפל מתאים ותשלום מאובטח — הכל בממשק אחד.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66928" y="9509760"/>
            <a:ext cx="11649456" cy="1115568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9582912"/>
            <a:ext cx="11411712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34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מ-5 ישראלים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85800" y="10076688"/>
            <a:ext cx="11411712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2100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סובל ואינו מקבל טיפול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2783312" y="5577840"/>
            <a:ext cx="12051792" cy="530352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2984480" y="574243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 הפרויקט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12984480" y="6592824"/>
            <a:ext cx="493776" cy="80467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984480" y="6592824"/>
            <a:ext cx="4937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3587984" y="6574536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מיון AI חכם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13587984" y="6995160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 מנתח שאלון רגשי ומייצר סיכום קליני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2984480" y="7662672"/>
            <a:ext cx="493776" cy="80467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984480" y="7662672"/>
            <a:ext cx="4937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3587984" y="7644384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התאמה וקטורית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3587984" y="8065008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Embeddings + RavenDB Vector Search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984480" y="8732520"/>
            <a:ext cx="493776" cy="80467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984480" y="8732520"/>
            <a:ext cx="4937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3587984" y="8714232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צ'אט בזמן אמת</a:t>
            </a:r>
            <a:endParaRPr lang="en-US" sz="2500" dirty="0"/>
          </a:p>
        </p:txBody>
      </p:sp>
      <p:sp>
        <p:nvSpPr>
          <p:cNvPr id="31" name="Text 29"/>
          <p:cNvSpPr/>
          <p:nvPr/>
        </p:nvSpPr>
        <p:spPr>
          <a:xfrm>
            <a:off x="13587984" y="9134856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SignalR לתקשורת מאובטחת מטופל ↔ מטפל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2984480" y="9802368"/>
            <a:ext cx="493776" cy="80467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2984480" y="9802368"/>
            <a:ext cx="49377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1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3587984" y="9784080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תשלום מובנה</a:t>
            </a:r>
            <a:endParaRPr lang="en-US" sz="2500" dirty="0"/>
          </a:p>
        </p:txBody>
      </p:sp>
      <p:sp>
        <p:nvSpPr>
          <p:cNvPr id="35" name="Text 33"/>
          <p:cNvSpPr/>
          <p:nvPr/>
        </p:nvSpPr>
        <p:spPr>
          <a:xfrm>
            <a:off x="13587984" y="10204704"/>
            <a:ext cx="11027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Stripe: החזרים ומדיניות ביטול אוטומטית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365760" y="11109960"/>
            <a:ext cx="24469344" cy="5029200"/>
          </a:xfrm>
          <a:prstGeom prst="rect">
            <a:avLst/>
          </a:prstGeom>
          <a:solidFill>
            <a:srgbClr val="2E2519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66928" y="11274552"/>
            <a:ext cx="2406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ארכיטקטורת המערכת</a:t>
            </a:r>
            <a:endParaRPr lang="en-US" sz="3800" dirty="0"/>
          </a:p>
        </p:txBody>
      </p:sp>
      <p:sp>
        <p:nvSpPr>
          <p:cNvPr id="38" name="Shape 36"/>
          <p:cNvSpPr/>
          <p:nvPr/>
        </p:nvSpPr>
        <p:spPr>
          <a:xfrm>
            <a:off x="566928" y="12024360"/>
            <a:ext cx="4608576" cy="3794760"/>
          </a:xfrm>
          <a:prstGeom prst="rect">
            <a:avLst/>
          </a:prstGeom>
          <a:solidFill>
            <a:srgbClr val="3A2E18"/>
          </a:solidFill>
          <a:ln w="6350">
            <a:solidFill>
              <a:srgbClr val="FAF6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66928" y="12161520"/>
            <a:ext cx="4608576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2700" dirty="0"/>
          </a:p>
        </p:txBody>
      </p:sp>
      <p:sp>
        <p:nvSpPr>
          <p:cNvPr id="40" name="Shape 38"/>
          <p:cNvSpPr/>
          <p:nvPr/>
        </p:nvSpPr>
        <p:spPr>
          <a:xfrm>
            <a:off x="731520" y="12792456"/>
            <a:ext cx="4279392" cy="45720"/>
          </a:xfrm>
          <a:prstGeom prst="rect">
            <a:avLst/>
          </a:prstGeom>
          <a:solidFill>
            <a:srgbClr val="FAF6EE"/>
          </a:solidFill>
          <a:ln w="12700">
            <a:solidFill>
              <a:srgbClr val="FAF6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12975336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566928" y="13670280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900" dirty="0"/>
          </a:p>
        </p:txBody>
      </p:sp>
      <p:sp>
        <p:nvSpPr>
          <p:cNvPr id="43" name="Text 41"/>
          <p:cNvSpPr/>
          <p:nvPr/>
        </p:nvSpPr>
        <p:spPr>
          <a:xfrm>
            <a:off x="566928" y="14365224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i18next (RTL)</a:t>
            </a:r>
            <a:endParaRPr lang="en-US" sz="1900" dirty="0"/>
          </a:p>
        </p:txBody>
      </p:sp>
      <p:sp>
        <p:nvSpPr>
          <p:cNvPr id="44" name="Text 42"/>
          <p:cNvSpPr/>
          <p:nvPr/>
        </p:nvSpPr>
        <p:spPr>
          <a:xfrm>
            <a:off x="566928" y="15060168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Router v6</a:t>
            </a:r>
            <a:endParaRPr lang="en-US" sz="1900" dirty="0"/>
          </a:p>
        </p:txBody>
      </p:sp>
      <p:sp>
        <p:nvSpPr>
          <p:cNvPr id="45" name="Shape 43"/>
          <p:cNvSpPr/>
          <p:nvPr/>
        </p:nvSpPr>
        <p:spPr>
          <a:xfrm>
            <a:off x="5202936" y="13944600"/>
            <a:ext cx="201168" cy="0"/>
          </a:xfrm>
          <a:prstGeom prst="line">
            <a:avLst/>
          </a:prstGeom>
          <a:noFill/>
          <a:ln w="38100">
            <a:solidFill>
              <a:srgbClr val="F5ED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31536" y="12024360"/>
            <a:ext cx="4608576" cy="3794760"/>
          </a:xfrm>
          <a:prstGeom prst="rect">
            <a:avLst/>
          </a:prstGeom>
          <a:solidFill>
            <a:srgbClr val="2E3820"/>
          </a:solidFill>
          <a:ln w="6350">
            <a:solidFill>
              <a:srgbClr val="FAF6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431536" y="12161520"/>
            <a:ext cx="4608576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2700" dirty="0"/>
          </a:p>
        </p:txBody>
      </p:sp>
      <p:sp>
        <p:nvSpPr>
          <p:cNvPr id="48" name="Shape 46"/>
          <p:cNvSpPr/>
          <p:nvPr/>
        </p:nvSpPr>
        <p:spPr>
          <a:xfrm>
            <a:off x="5596128" y="12792456"/>
            <a:ext cx="4279392" cy="45720"/>
          </a:xfrm>
          <a:prstGeom prst="rect">
            <a:avLst/>
          </a:prstGeom>
          <a:solidFill>
            <a:srgbClr val="FAF6EE"/>
          </a:solidFill>
          <a:ln w="12700">
            <a:solidFill>
              <a:srgbClr val="FAF6E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31536" y="12975336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.NET 8 Web API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5431536" y="13670280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431536" y="14365224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BCrypt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5431536" y="15060168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RESTful API</a:t>
            </a:r>
            <a:endParaRPr lang="en-US" sz="1900" dirty="0"/>
          </a:p>
        </p:txBody>
      </p:sp>
      <p:sp>
        <p:nvSpPr>
          <p:cNvPr id="53" name="Shape 51"/>
          <p:cNvSpPr/>
          <p:nvPr/>
        </p:nvSpPr>
        <p:spPr>
          <a:xfrm>
            <a:off x="10067544" y="13944600"/>
            <a:ext cx="201168" cy="0"/>
          </a:xfrm>
          <a:prstGeom prst="line">
            <a:avLst/>
          </a:prstGeom>
          <a:noFill/>
          <a:ln w="38100">
            <a:solidFill>
              <a:srgbClr val="F5ED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96144" y="12024360"/>
            <a:ext cx="4608576" cy="3794760"/>
          </a:xfrm>
          <a:prstGeom prst="rect">
            <a:avLst/>
          </a:prstGeom>
          <a:solidFill>
            <a:srgbClr val="38283A"/>
          </a:solidFill>
          <a:ln w="6350">
            <a:solidFill>
              <a:srgbClr val="FAF6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0296144" y="12161520"/>
            <a:ext cx="4608576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2700" dirty="0"/>
          </a:p>
        </p:txBody>
      </p:sp>
      <p:sp>
        <p:nvSpPr>
          <p:cNvPr id="56" name="Shape 54"/>
          <p:cNvSpPr/>
          <p:nvPr/>
        </p:nvSpPr>
        <p:spPr>
          <a:xfrm>
            <a:off x="10460736" y="12792456"/>
            <a:ext cx="4279392" cy="45720"/>
          </a:xfrm>
          <a:prstGeom prst="rect">
            <a:avLst/>
          </a:prstGeom>
          <a:solidFill>
            <a:srgbClr val="FAF6EE"/>
          </a:solidFill>
          <a:ln w="12700">
            <a:solidFill>
              <a:srgbClr val="FAF6E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296144" y="12975336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RavenDB 7.2</a:t>
            </a:r>
            <a:endParaRPr lang="en-US" sz="1900" dirty="0"/>
          </a:p>
        </p:txBody>
      </p:sp>
      <p:sp>
        <p:nvSpPr>
          <p:cNvPr id="58" name="Text 56"/>
          <p:cNvSpPr/>
          <p:nvPr/>
        </p:nvSpPr>
        <p:spPr>
          <a:xfrm>
            <a:off x="10296144" y="13670280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Store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10296144" y="14365224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Index</a:t>
            </a:r>
            <a:endParaRPr lang="en-US" sz="1900" dirty="0"/>
          </a:p>
        </p:txBody>
      </p:sp>
      <p:sp>
        <p:nvSpPr>
          <p:cNvPr id="60" name="Text 58"/>
          <p:cNvSpPr/>
          <p:nvPr/>
        </p:nvSpPr>
        <p:spPr>
          <a:xfrm>
            <a:off x="10296144" y="15060168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ByVector</a:t>
            </a:r>
            <a:endParaRPr lang="en-US" sz="1900" dirty="0"/>
          </a:p>
        </p:txBody>
      </p:sp>
      <p:sp>
        <p:nvSpPr>
          <p:cNvPr id="61" name="Shape 59"/>
          <p:cNvSpPr/>
          <p:nvPr/>
        </p:nvSpPr>
        <p:spPr>
          <a:xfrm>
            <a:off x="14932152" y="13944600"/>
            <a:ext cx="201168" cy="0"/>
          </a:xfrm>
          <a:prstGeom prst="line">
            <a:avLst/>
          </a:prstGeom>
          <a:noFill/>
          <a:ln w="38100">
            <a:solidFill>
              <a:srgbClr val="F5ED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5160752" y="12024360"/>
            <a:ext cx="4608576" cy="3794760"/>
          </a:xfrm>
          <a:prstGeom prst="rect">
            <a:avLst/>
          </a:prstGeom>
          <a:solidFill>
            <a:srgbClr val="4A3008"/>
          </a:solidFill>
          <a:ln w="6350">
            <a:solidFill>
              <a:srgbClr val="FAF6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5160752" y="12161520"/>
            <a:ext cx="4608576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</a:t>
            </a:r>
            <a:endParaRPr lang="en-US" sz="2700" dirty="0"/>
          </a:p>
        </p:txBody>
      </p:sp>
      <p:sp>
        <p:nvSpPr>
          <p:cNvPr id="64" name="Shape 62"/>
          <p:cNvSpPr/>
          <p:nvPr/>
        </p:nvSpPr>
        <p:spPr>
          <a:xfrm>
            <a:off x="15325344" y="12792456"/>
            <a:ext cx="4279392" cy="45720"/>
          </a:xfrm>
          <a:prstGeom prst="rect">
            <a:avLst/>
          </a:prstGeom>
          <a:solidFill>
            <a:srgbClr val="FAF6EE"/>
          </a:solidFill>
          <a:ln w="12700">
            <a:solidFill>
              <a:srgbClr val="FAF6E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5160752" y="12975336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GPT-4</a:t>
            </a:r>
            <a:endParaRPr lang="en-US" sz="1900" dirty="0"/>
          </a:p>
        </p:txBody>
      </p:sp>
      <p:sp>
        <p:nvSpPr>
          <p:cNvPr id="66" name="Text 64"/>
          <p:cNvSpPr/>
          <p:nvPr/>
        </p:nvSpPr>
        <p:spPr>
          <a:xfrm>
            <a:off x="15160752" y="13670280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text-embedding-3</a:t>
            </a:r>
            <a:endParaRPr lang="en-US" sz="1900" dirty="0"/>
          </a:p>
        </p:txBody>
      </p:sp>
      <p:sp>
        <p:nvSpPr>
          <p:cNvPr id="67" name="Text 65"/>
          <p:cNvSpPr/>
          <p:nvPr/>
        </p:nvSpPr>
        <p:spPr>
          <a:xfrm>
            <a:off x="15160752" y="14365224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Summary</a:t>
            </a:r>
            <a:endParaRPr lang="en-US" sz="1900" dirty="0"/>
          </a:p>
        </p:txBody>
      </p:sp>
      <p:sp>
        <p:nvSpPr>
          <p:cNvPr id="68" name="Text 66"/>
          <p:cNvSpPr/>
          <p:nvPr/>
        </p:nvSpPr>
        <p:spPr>
          <a:xfrm>
            <a:off x="15160752" y="15060168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Logic</a:t>
            </a:r>
            <a:endParaRPr lang="en-US" sz="1900" dirty="0"/>
          </a:p>
        </p:txBody>
      </p:sp>
      <p:sp>
        <p:nvSpPr>
          <p:cNvPr id="69" name="Shape 67"/>
          <p:cNvSpPr/>
          <p:nvPr/>
        </p:nvSpPr>
        <p:spPr>
          <a:xfrm>
            <a:off x="19796760" y="13944600"/>
            <a:ext cx="201168" cy="0"/>
          </a:xfrm>
          <a:prstGeom prst="line">
            <a:avLst/>
          </a:prstGeom>
          <a:noFill/>
          <a:ln w="38100">
            <a:solidFill>
              <a:srgbClr val="F5EDD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0025360" y="12024360"/>
            <a:ext cx="4608576" cy="3794760"/>
          </a:xfrm>
          <a:prstGeom prst="rect">
            <a:avLst/>
          </a:prstGeom>
          <a:solidFill>
            <a:srgbClr val="3A1818"/>
          </a:solidFill>
          <a:ln w="6350">
            <a:solidFill>
              <a:srgbClr val="FAF6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1" name="Text 69"/>
          <p:cNvSpPr/>
          <p:nvPr/>
        </p:nvSpPr>
        <p:spPr>
          <a:xfrm>
            <a:off x="20025360" y="12161520"/>
            <a:ext cx="4608576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2700" dirty="0"/>
          </a:p>
        </p:txBody>
      </p:sp>
      <p:sp>
        <p:nvSpPr>
          <p:cNvPr id="72" name="Shape 70"/>
          <p:cNvSpPr/>
          <p:nvPr/>
        </p:nvSpPr>
        <p:spPr>
          <a:xfrm>
            <a:off x="20189952" y="12792456"/>
            <a:ext cx="4279392" cy="45720"/>
          </a:xfrm>
          <a:prstGeom prst="rect">
            <a:avLst/>
          </a:prstGeom>
          <a:solidFill>
            <a:srgbClr val="FAF6EE"/>
          </a:solidFill>
          <a:ln w="12700">
            <a:solidFill>
              <a:srgbClr val="FAF6EE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0025360" y="12975336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SignalR Chat</a:t>
            </a:r>
            <a:endParaRPr lang="en-US" sz="1900" dirty="0"/>
          </a:p>
        </p:txBody>
      </p:sp>
      <p:sp>
        <p:nvSpPr>
          <p:cNvPr id="74" name="Text 72"/>
          <p:cNvSpPr/>
          <p:nvPr/>
        </p:nvSpPr>
        <p:spPr>
          <a:xfrm>
            <a:off x="20025360" y="13670280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Billing</a:t>
            </a:r>
            <a:endParaRPr lang="en-US" sz="1900" dirty="0"/>
          </a:p>
        </p:txBody>
      </p:sp>
      <p:sp>
        <p:nvSpPr>
          <p:cNvPr id="75" name="Text 73"/>
          <p:cNvSpPr/>
          <p:nvPr/>
        </p:nvSpPr>
        <p:spPr>
          <a:xfrm>
            <a:off x="20025360" y="14365224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 Encrypt</a:t>
            </a:r>
            <a:endParaRPr lang="en-US" sz="1900" dirty="0"/>
          </a:p>
        </p:txBody>
      </p:sp>
      <p:sp>
        <p:nvSpPr>
          <p:cNvPr id="76" name="Text 74"/>
          <p:cNvSpPr/>
          <p:nvPr/>
        </p:nvSpPr>
        <p:spPr>
          <a:xfrm>
            <a:off x="20025360" y="15060168"/>
            <a:ext cx="460857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rtl="1" algn="ctr" indent="0" marL="0">
              <a:buNone/>
            </a:pPr>
            <a:r>
              <a:rPr lang="en-US" sz="19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900" dirty="0"/>
          </a:p>
        </p:txBody>
      </p:sp>
      <p:sp>
        <p:nvSpPr>
          <p:cNvPr id="77" name="Shape 75"/>
          <p:cNvSpPr/>
          <p:nvPr/>
        </p:nvSpPr>
        <p:spPr>
          <a:xfrm>
            <a:off x="365760" y="16367760"/>
            <a:ext cx="12051792" cy="530352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66928" y="1653235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משתמשי המערכת</a:t>
            </a:r>
            <a:endParaRPr lang="en-US" sz="3800" dirty="0"/>
          </a:p>
        </p:txBody>
      </p:sp>
      <p:sp>
        <p:nvSpPr>
          <p:cNvPr id="79" name="Shape 77"/>
          <p:cNvSpPr/>
          <p:nvPr/>
        </p:nvSpPr>
        <p:spPr>
          <a:xfrm>
            <a:off x="566928" y="17327880"/>
            <a:ext cx="11649456" cy="1316736"/>
          </a:xfrm>
          <a:prstGeom prst="rect">
            <a:avLst/>
          </a:prstGeom>
          <a:solidFill>
            <a:srgbClr val="2E2519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694944" y="17419320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מטופל</a:t>
            </a:r>
            <a:endParaRPr lang="en-US" sz="2800" dirty="0"/>
          </a:p>
        </p:txBody>
      </p:sp>
      <p:sp>
        <p:nvSpPr>
          <p:cNvPr id="81" name="Text 79"/>
          <p:cNvSpPr/>
          <p:nvPr/>
        </p:nvSpPr>
        <p:spPr>
          <a:xfrm>
            <a:off x="694944" y="17986248"/>
            <a:ext cx="11320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מלא שאלון AI  ·  חפש מטפל  ·  קבע פגישה  ·  שלם  ·  צ'אט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566928" y="18772632"/>
            <a:ext cx="11649456" cy="1316736"/>
          </a:xfrm>
          <a:prstGeom prst="rect">
            <a:avLst/>
          </a:prstGeom>
          <a:solidFill>
            <a:srgbClr val="2E2519"/>
          </a:solidFill>
          <a:ln w="15240">
            <a:solidFill>
              <a:srgbClr val="BF9A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3" name="Text 81"/>
          <p:cNvSpPr/>
          <p:nvPr/>
        </p:nvSpPr>
        <p:spPr>
          <a:xfrm>
            <a:off x="694944" y="18864072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BF9A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מטפל</a:t>
            </a:r>
            <a:endParaRPr lang="en-US" sz="2800" dirty="0"/>
          </a:p>
        </p:txBody>
      </p:sp>
      <p:sp>
        <p:nvSpPr>
          <p:cNvPr id="84" name="Text 82"/>
          <p:cNvSpPr/>
          <p:nvPr/>
        </p:nvSpPr>
        <p:spPr>
          <a:xfrm>
            <a:off x="694944" y="19431000"/>
            <a:ext cx="11320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הירשם ואושר  ·  קבל בקשות  ·  נהל זמינות  ·  שוחח</a:t>
            </a:r>
            <a:endParaRPr lang="en-US" sz="1700" dirty="0"/>
          </a:p>
        </p:txBody>
      </p:sp>
      <p:sp>
        <p:nvSpPr>
          <p:cNvPr id="85" name="Shape 83"/>
          <p:cNvSpPr/>
          <p:nvPr/>
        </p:nvSpPr>
        <p:spPr>
          <a:xfrm>
            <a:off x="566928" y="20217384"/>
            <a:ext cx="11649456" cy="1316736"/>
          </a:xfrm>
          <a:prstGeom prst="rect">
            <a:avLst/>
          </a:prstGeom>
          <a:solidFill>
            <a:srgbClr val="2E2519"/>
          </a:solidFill>
          <a:ln w="15240">
            <a:solidFill>
              <a:srgbClr val="C8A88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6" name="Text 84"/>
          <p:cNvSpPr/>
          <p:nvPr/>
        </p:nvSpPr>
        <p:spPr>
          <a:xfrm>
            <a:off x="694944" y="20308824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C8A8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</a:t>
            </a:r>
            <a:endParaRPr lang="en-US" sz="2800" dirty="0"/>
          </a:p>
        </p:txBody>
      </p:sp>
      <p:sp>
        <p:nvSpPr>
          <p:cNvPr id="87" name="Text 85"/>
          <p:cNvSpPr/>
          <p:nvPr/>
        </p:nvSpPr>
        <p:spPr>
          <a:xfrm>
            <a:off x="694944" y="20875752"/>
            <a:ext cx="11320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אשר מטפלים  ·  נהל משתמשים  ·  צפה בסטטיסטיקות</a:t>
            </a:r>
            <a:endParaRPr lang="en-US" sz="1700" dirty="0"/>
          </a:p>
        </p:txBody>
      </p:sp>
      <p:sp>
        <p:nvSpPr>
          <p:cNvPr id="88" name="Shape 86"/>
          <p:cNvSpPr/>
          <p:nvPr/>
        </p:nvSpPr>
        <p:spPr>
          <a:xfrm>
            <a:off x="12783312" y="16367760"/>
            <a:ext cx="12051792" cy="530352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9" name="Text 87"/>
          <p:cNvSpPr/>
          <p:nvPr/>
        </p:nvSpPr>
        <p:spPr>
          <a:xfrm>
            <a:off x="12984480" y="1653235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מסכי המערכת המרכזיים</a:t>
            </a:r>
            <a:endParaRPr lang="en-US" sz="3800" dirty="0"/>
          </a:p>
        </p:txBody>
      </p:sp>
      <p:sp>
        <p:nvSpPr>
          <p:cNvPr id="90" name="Shape 88"/>
          <p:cNvSpPr/>
          <p:nvPr/>
        </p:nvSpPr>
        <p:spPr>
          <a:xfrm>
            <a:off x="12984480" y="17437608"/>
            <a:ext cx="73152" cy="6217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3185648" y="17401032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הבית</a:t>
            </a:r>
            <a:endParaRPr lang="en-US" sz="2300" dirty="0"/>
          </a:p>
        </p:txBody>
      </p:sp>
      <p:sp>
        <p:nvSpPr>
          <p:cNvPr id="92" name="Text 90"/>
          <p:cNvSpPr/>
          <p:nvPr/>
        </p:nvSpPr>
        <p:spPr>
          <a:xfrm>
            <a:off x="13185648" y="17785080"/>
            <a:ext cx="11430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section + ניווט + LanguageToggle עברית/אנגלית</a:t>
            </a:r>
            <a:endParaRPr lang="en-US" sz="1700" dirty="0"/>
          </a:p>
        </p:txBody>
      </p:sp>
      <p:sp>
        <p:nvSpPr>
          <p:cNvPr id="93" name="Shape 91"/>
          <p:cNvSpPr/>
          <p:nvPr/>
        </p:nvSpPr>
        <p:spPr>
          <a:xfrm>
            <a:off x="12984480" y="18297144"/>
            <a:ext cx="73152" cy="6217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3185648" y="18260568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תיאוש AI</a:t>
            </a:r>
            <a:endParaRPr lang="en-US" sz="2300" dirty="0"/>
          </a:p>
        </p:txBody>
      </p:sp>
      <p:sp>
        <p:nvSpPr>
          <p:cNvPr id="95" name="Text 93"/>
          <p:cNvSpPr/>
          <p:nvPr/>
        </p:nvSpPr>
        <p:spPr>
          <a:xfrm>
            <a:off x="13185648" y="18644616"/>
            <a:ext cx="11430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שאלון רגשי → סיכום GPT-4 → 3 מטפלים מומלצים</a:t>
            </a:r>
            <a:endParaRPr lang="en-US" sz="1700" dirty="0"/>
          </a:p>
        </p:txBody>
      </p:sp>
      <p:sp>
        <p:nvSpPr>
          <p:cNvPr id="96" name="Shape 94"/>
          <p:cNvSpPr/>
          <p:nvPr/>
        </p:nvSpPr>
        <p:spPr>
          <a:xfrm>
            <a:off x="12984480" y="19156680"/>
            <a:ext cx="73152" cy="6217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3185648" y="19120104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דשבורד מטופל</a:t>
            </a:r>
            <a:endParaRPr lang="en-US" sz="2300" dirty="0"/>
          </a:p>
        </p:txBody>
      </p:sp>
      <p:sp>
        <p:nvSpPr>
          <p:cNvPr id="98" name="Text 96"/>
          <p:cNvSpPr/>
          <p:nvPr/>
        </p:nvSpPr>
        <p:spPr>
          <a:xfrm>
            <a:off x="13185648" y="19504152"/>
            <a:ext cx="11430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כללית, היסטוריית פגישות AI, הזמנת פגישה</a:t>
            </a:r>
            <a:endParaRPr lang="en-US" sz="1700" dirty="0"/>
          </a:p>
        </p:txBody>
      </p:sp>
      <p:sp>
        <p:nvSpPr>
          <p:cNvPr id="99" name="Shape 97"/>
          <p:cNvSpPr/>
          <p:nvPr/>
        </p:nvSpPr>
        <p:spPr>
          <a:xfrm>
            <a:off x="12984480" y="20016216"/>
            <a:ext cx="73152" cy="6217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3185648" y="19979640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פרופיל מטפל</a:t>
            </a:r>
            <a:endParaRPr lang="en-US" sz="2300" dirty="0"/>
          </a:p>
        </p:txBody>
      </p:sp>
      <p:sp>
        <p:nvSpPr>
          <p:cNvPr id="101" name="Text 99"/>
          <p:cNvSpPr/>
          <p:nvPr/>
        </p:nvSpPr>
        <p:spPr>
          <a:xfrm>
            <a:off x="13185648" y="20363688"/>
            <a:ext cx="11430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ביו, התמחויות, זמינות, ביקורות, הזמנה מיידית</a:t>
            </a:r>
            <a:endParaRPr lang="en-US" sz="1700" dirty="0"/>
          </a:p>
        </p:txBody>
      </p:sp>
      <p:sp>
        <p:nvSpPr>
          <p:cNvPr id="102" name="Shape 100"/>
          <p:cNvSpPr/>
          <p:nvPr/>
        </p:nvSpPr>
        <p:spPr>
          <a:xfrm>
            <a:off x="12984480" y="20875752"/>
            <a:ext cx="73152" cy="621792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3185648" y="20839176"/>
            <a:ext cx="11430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דשבורד מטפל</a:t>
            </a:r>
            <a:endParaRPr lang="en-US" sz="2300" dirty="0"/>
          </a:p>
        </p:txBody>
      </p:sp>
      <p:sp>
        <p:nvSpPr>
          <p:cNvPr id="104" name="Text 102"/>
          <p:cNvSpPr/>
          <p:nvPr/>
        </p:nvSpPr>
        <p:spPr>
          <a:xfrm>
            <a:off x="13185648" y="21223224"/>
            <a:ext cx="11430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ConsultationQueue, ניהול לו"ז, צ'אט בזמן אמת</a:t>
            </a:r>
            <a:endParaRPr lang="en-US" sz="1700" dirty="0"/>
          </a:p>
        </p:txBody>
      </p:sp>
      <p:sp>
        <p:nvSpPr>
          <p:cNvPr id="105" name="Shape 103"/>
          <p:cNvSpPr/>
          <p:nvPr/>
        </p:nvSpPr>
        <p:spPr>
          <a:xfrm>
            <a:off x="0" y="21899880"/>
            <a:ext cx="25200864" cy="5760720"/>
          </a:xfrm>
          <a:prstGeom prst="rect">
            <a:avLst/>
          </a:prstGeom>
          <a:solidFill>
            <a:srgbClr val="2A2010"/>
          </a:solidFill>
          <a:ln w="12700">
            <a:solidFill>
              <a:srgbClr val="2A201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0" y="21899880"/>
            <a:ext cx="25200864" cy="146304"/>
          </a:xfrm>
          <a:prstGeom prst="rect">
            <a:avLst/>
          </a:prstGeom>
          <a:solidFill>
            <a:srgbClr val="D4A040"/>
          </a:solidFill>
          <a:ln w="12700">
            <a:solidFill>
              <a:srgbClr val="D4A04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0" y="27514296"/>
            <a:ext cx="25200864" cy="146304"/>
          </a:xfrm>
          <a:prstGeom prst="rect">
            <a:avLst/>
          </a:prstGeom>
          <a:solidFill>
            <a:srgbClr val="D4A040"/>
          </a:solidFill>
          <a:ln w="12700">
            <a:solidFill>
              <a:srgbClr val="D4A04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66928" y="22064472"/>
            <a:ext cx="24067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האלמנט החכם — AI Triage &amp; Vector Matching</a:t>
            </a:r>
            <a:endParaRPr lang="en-US" sz="3800" dirty="0"/>
          </a:p>
        </p:txBody>
      </p:sp>
      <p:sp>
        <p:nvSpPr>
          <p:cNvPr id="109" name="Shape 107"/>
          <p:cNvSpPr/>
          <p:nvPr/>
        </p:nvSpPr>
        <p:spPr>
          <a:xfrm>
            <a:off x="566928" y="22905720"/>
            <a:ext cx="4608576" cy="4389120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0" name="Shape 108"/>
          <p:cNvSpPr/>
          <p:nvPr/>
        </p:nvSpPr>
        <p:spPr>
          <a:xfrm>
            <a:off x="2414016" y="23161752"/>
            <a:ext cx="914400" cy="914400"/>
          </a:xfrm>
          <a:prstGeom prst="ellipse">
            <a:avLst/>
          </a:prstGeom>
          <a:solidFill>
            <a:srgbClr val="ECC31C"/>
          </a:solidFill>
          <a:ln w="25400">
            <a:solidFill>
              <a:srgbClr val="D4A04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414016" y="23381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000" dirty="0"/>
          </a:p>
        </p:txBody>
      </p:sp>
      <p:sp>
        <p:nvSpPr>
          <p:cNvPr id="112" name="Text 110"/>
          <p:cNvSpPr/>
          <p:nvPr/>
        </p:nvSpPr>
        <p:spPr>
          <a:xfrm>
            <a:off x="566928" y="2427732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שאלון קליני</a:t>
            </a:r>
            <a:endParaRPr lang="en-US" sz="2200" dirty="0"/>
          </a:p>
        </p:txBody>
      </p:sp>
      <p:sp>
        <p:nvSpPr>
          <p:cNvPr id="113" name="Text 111"/>
          <p:cNvSpPr/>
          <p:nvPr/>
        </p:nvSpPr>
        <p:spPr>
          <a:xfrm>
            <a:off x="566928" y="24871680"/>
            <a:ext cx="4608576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המטופל עונה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רגשיות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2000" dirty="0"/>
          </a:p>
        </p:txBody>
      </p:sp>
      <p:sp>
        <p:nvSpPr>
          <p:cNvPr id="114" name="Shape 112"/>
          <p:cNvSpPr/>
          <p:nvPr/>
        </p:nvSpPr>
        <p:spPr>
          <a:xfrm>
            <a:off x="5202936" y="25283160"/>
            <a:ext cx="201168" cy="0"/>
          </a:xfrm>
          <a:prstGeom prst="line">
            <a:avLst/>
          </a:prstGeom>
          <a:noFill/>
          <a:ln w="50800">
            <a:solidFill>
              <a:srgbClr val="F5EDD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431536" y="22905720"/>
            <a:ext cx="4608576" cy="4389120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6" name="Shape 114"/>
          <p:cNvSpPr/>
          <p:nvPr/>
        </p:nvSpPr>
        <p:spPr>
          <a:xfrm>
            <a:off x="7278624" y="23161752"/>
            <a:ext cx="914400" cy="914400"/>
          </a:xfrm>
          <a:prstGeom prst="ellipse">
            <a:avLst/>
          </a:prstGeom>
          <a:solidFill>
            <a:srgbClr val="ECC31C"/>
          </a:solidFill>
          <a:ln w="25400">
            <a:solidFill>
              <a:srgbClr val="D4A04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278624" y="23381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18" name="Text 116"/>
          <p:cNvSpPr/>
          <p:nvPr/>
        </p:nvSpPr>
        <p:spPr>
          <a:xfrm>
            <a:off x="5431536" y="2427732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 Summary</a:t>
            </a:r>
            <a:endParaRPr lang="en-US" sz="2200" dirty="0"/>
          </a:p>
        </p:txBody>
      </p:sp>
      <p:sp>
        <p:nvSpPr>
          <p:cNvPr id="119" name="Text 117"/>
          <p:cNvSpPr/>
          <p:nvPr/>
        </p:nvSpPr>
        <p:spPr>
          <a:xfrm>
            <a:off x="5431536" y="24871680"/>
            <a:ext cx="4608576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תשובות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וסיכום קליני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בזמן אמת</a:t>
            </a:r>
            <a:endParaRPr lang="en-US" sz="2000" dirty="0"/>
          </a:p>
        </p:txBody>
      </p:sp>
      <p:sp>
        <p:nvSpPr>
          <p:cNvPr id="120" name="Shape 118"/>
          <p:cNvSpPr/>
          <p:nvPr/>
        </p:nvSpPr>
        <p:spPr>
          <a:xfrm>
            <a:off x="10067544" y="25283160"/>
            <a:ext cx="201168" cy="0"/>
          </a:xfrm>
          <a:prstGeom prst="line">
            <a:avLst/>
          </a:prstGeom>
          <a:noFill/>
          <a:ln w="50800">
            <a:solidFill>
              <a:srgbClr val="F5EDD8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296144" y="22905720"/>
            <a:ext cx="4608576" cy="4389120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2" name="Shape 120"/>
          <p:cNvSpPr/>
          <p:nvPr/>
        </p:nvSpPr>
        <p:spPr>
          <a:xfrm>
            <a:off x="12143232" y="23161752"/>
            <a:ext cx="914400" cy="914400"/>
          </a:xfrm>
          <a:prstGeom prst="ellipse">
            <a:avLst/>
          </a:prstGeom>
          <a:solidFill>
            <a:srgbClr val="ECC31C"/>
          </a:solidFill>
          <a:ln w="25400">
            <a:solidFill>
              <a:srgbClr val="D4A04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2143232" y="23381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000" dirty="0"/>
          </a:p>
        </p:txBody>
      </p:sp>
      <p:sp>
        <p:nvSpPr>
          <p:cNvPr id="124" name="Text 122"/>
          <p:cNvSpPr/>
          <p:nvPr/>
        </p:nvSpPr>
        <p:spPr>
          <a:xfrm>
            <a:off x="10296144" y="2427732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</a:t>
            </a:r>
            <a:endParaRPr lang="en-US" sz="2200" dirty="0"/>
          </a:p>
        </p:txBody>
      </p:sp>
      <p:sp>
        <p:nvSpPr>
          <p:cNvPr id="125" name="Text 123"/>
          <p:cNvSpPr/>
          <p:nvPr/>
        </p:nvSpPr>
        <p:spPr>
          <a:xfrm>
            <a:off x="10296144" y="24871680"/>
            <a:ext cx="4608576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וקטור 1536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מימדי נוצר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ע"י OpenAI</a:t>
            </a:r>
            <a:endParaRPr lang="en-US" sz="2000" dirty="0"/>
          </a:p>
        </p:txBody>
      </p:sp>
      <p:sp>
        <p:nvSpPr>
          <p:cNvPr id="126" name="Shape 124"/>
          <p:cNvSpPr/>
          <p:nvPr/>
        </p:nvSpPr>
        <p:spPr>
          <a:xfrm>
            <a:off x="14932152" y="25283160"/>
            <a:ext cx="201168" cy="0"/>
          </a:xfrm>
          <a:prstGeom prst="line">
            <a:avLst/>
          </a:prstGeom>
          <a:noFill/>
          <a:ln w="50800">
            <a:solidFill>
              <a:srgbClr val="F5EDD8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5160752" y="22905720"/>
            <a:ext cx="4608576" cy="4389120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8" name="Shape 126"/>
          <p:cNvSpPr/>
          <p:nvPr/>
        </p:nvSpPr>
        <p:spPr>
          <a:xfrm>
            <a:off x="17007840" y="23161752"/>
            <a:ext cx="914400" cy="914400"/>
          </a:xfrm>
          <a:prstGeom prst="ellipse">
            <a:avLst/>
          </a:prstGeom>
          <a:solidFill>
            <a:srgbClr val="ECC31C"/>
          </a:solidFill>
          <a:ln w="25400">
            <a:solidFill>
              <a:srgbClr val="D4A04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7007840" y="23381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30" name="Text 128"/>
          <p:cNvSpPr/>
          <p:nvPr/>
        </p:nvSpPr>
        <p:spPr>
          <a:xfrm>
            <a:off x="15160752" y="2427732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Search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15160752" y="24871680"/>
            <a:ext cx="4608576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cosine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ב-RavenDB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ByVector Index</a:t>
            </a:r>
            <a:endParaRPr lang="en-US" sz="2000" dirty="0"/>
          </a:p>
        </p:txBody>
      </p:sp>
      <p:sp>
        <p:nvSpPr>
          <p:cNvPr id="132" name="Shape 130"/>
          <p:cNvSpPr/>
          <p:nvPr/>
        </p:nvSpPr>
        <p:spPr>
          <a:xfrm>
            <a:off x="19796760" y="25283160"/>
            <a:ext cx="201168" cy="0"/>
          </a:xfrm>
          <a:prstGeom prst="line">
            <a:avLst/>
          </a:prstGeom>
          <a:noFill/>
          <a:ln w="50800">
            <a:solidFill>
              <a:srgbClr val="F5EDD8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0025360" y="22905720"/>
            <a:ext cx="4608576" cy="4389120"/>
          </a:xfrm>
          <a:prstGeom prst="rect">
            <a:avLst/>
          </a:prstGeom>
          <a:solidFill>
            <a:srgbClr val="2A2010"/>
          </a:solidFill>
          <a:ln w="15240">
            <a:solidFill>
              <a:srgbClr val="D4A04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4" name="Shape 132"/>
          <p:cNvSpPr/>
          <p:nvPr/>
        </p:nvSpPr>
        <p:spPr>
          <a:xfrm>
            <a:off x="21872448" y="23161752"/>
            <a:ext cx="914400" cy="914400"/>
          </a:xfrm>
          <a:prstGeom prst="ellipse">
            <a:avLst/>
          </a:prstGeom>
          <a:solidFill>
            <a:srgbClr val="ECC31C"/>
          </a:solidFill>
          <a:ln w="25400">
            <a:solidFill>
              <a:srgbClr val="D4A04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1872448" y="233812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000" dirty="0"/>
          </a:p>
        </p:txBody>
      </p:sp>
      <p:sp>
        <p:nvSpPr>
          <p:cNvPr id="136" name="Text 134"/>
          <p:cNvSpPr/>
          <p:nvPr/>
        </p:nvSpPr>
        <p:spPr>
          <a:xfrm>
            <a:off x="20025360" y="24277320"/>
            <a:ext cx="460857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E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התאמות</a:t>
            </a:r>
            <a:endParaRPr lang="en-US" sz="2200" dirty="0"/>
          </a:p>
        </p:txBody>
      </p:sp>
      <p:sp>
        <p:nvSpPr>
          <p:cNvPr id="137" name="Text 135"/>
          <p:cNvSpPr/>
          <p:nvPr/>
        </p:nvSpPr>
        <p:spPr>
          <a:xfrm>
            <a:off x="20025360" y="24871680"/>
            <a:ext cx="4608576" cy="21945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מטפלים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מתאימים</a:t>
            </a:r>
            <a:endParaRPr lang="en-US" sz="2000" dirty="0"/>
          </a:p>
          <a:p>
            <a:pPr rtl="1" algn="ctr" indent="0" marL="0">
              <a:buNone/>
            </a:pPr>
            <a:r>
              <a:rPr lang="en-US" sz="20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מוצגים למטופל</a:t>
            </a:r>
            <a:endParaRPr lang="en-US" sz="2000" dirty="0"/>
          </a:p>
        </p:txBody>
      </p:sp>
      <p:sp>
        <p:nvSpPr>
          <p:cNvPr id="138" name="Shape 136"/>
          <p:cNvSpPr/>
          <p:nvPr/>
        </p:nvSpPr>
        <p:spPr>
          <a:xfrm>
            <a:off x="365760" y="27889200"/>
            <a:ext cx="12051792" cy="722376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9" name="Text 137"/>
          <p:cNvSpPr/>
          <p:nvPr/>
        </p:nvSpPr>
        <p:spPr>
          <a:xfrm>
            <a:off x="566928" y="2805379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תוצאות</a:t>
            </a:r>
            <a:endParaRPr lang="en-US" sz="3800" dirty="0"/>
          </a:p>
        </p:txBody>
      </p:sp>
      <p:sp>
        <p:nvSpPr>
          <p:cNvPr id="140" name="Shape 138"/>
          <p:cNvSpPr/>
          <p:nvPr/>
        </p:nvSpPr>
        <p:spPr>
          <a:xfrm>
            <a:off x="566928" y="2895904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566928" y="2895904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2" name="Text 140"/>
          <p:cNvSpPr/>
          <p:nvPr/>
        </p:nvSpPr>
        <p:spPr>
          <a:xfrm>
            <a:off x="1133856" y="2890418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Full-Stack פונקציונלית עם 5+ מודולים</a:t>
            </a:r>
            <a:endParaRPr lang="en-US" sz="2100" dirty="0"/>
          </a:p>
        </p:txBody>
      </p:sp>
      <p:sp>
        <p:nvSpPr>
          <p:cNvPr id="143" name="Shape 141"/>
          <p:cNvSpPr/>
          <p:nvPr/>
        </p:nvSpPr>
        <p:spPr>
          <a:xfrm>
            <a:off x="566928" y="2982772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66928" y="2982772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5" name="Text 143"/>
          <p:cNvSpPr/>
          <p:nvPr/>
        </p:nvSpPr>
        <p:spPr>
          <a:xfrm>
            <a:off x="1133856" y="2977286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Triage + Vector Matching בזמן אמת</a:t>
            </a:r>
            <a:endParaRPr lang="en-US" sz="2100" dirty="0"/>
          </a:p>
        </p:txBody>
      </p:sp>
      <p:sp>
        <p:nvSpPr>
          <p:cNvPr id="146" name="Shape 144"/>
          <p:cNvSpPr/>
          <p:nvPr/>
        </p:nvSpPr>
        <p:spPr>
          <a:xfrm>
            <a:off x="566928" y="3069640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66928" y="3069640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48" name="Text 146"/>
          <p:cNvSpPr/>
          <p:nvPr/>
        </p:nvSpPr>
        <p:spPr>
          <a:xfrm>
            <a:off x="1133856" y="3064154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צ'אט SignalR מטופל ↔ מטפל</a:t>
            </a:r>
            <a:endParaRPr lang="en-US" sz="2100" dirty="0"/>
          </a:p>
        </p:txBody>
      </p:sp>
      <p:sp>
        <p:nvSpPr>
          <p:cNvPr id="149" name="Shape 147"/>
          <p:cNvSpPr/>
          <p:nvPr/>
        </p:nvSpPr>
        <p:spPr>
          <a:xfrm>
            <a:off x="566928" y="3156508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6928" y="3156508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1" name="Text 149"/>
          <p:cNvSpPr/>
          <p:nvPr/>
        </p:nvSpPr>
        <p:spPr>
          <a:xfrm>
            <a:off x="1133856" y="3151022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לתשלום, החזרים ובוקינג</a:t>
            </a:r>
            <a:endParaRPr lang="en-US" sz="2100" dirty="0"/>
          </a:p>
        </p:txBody>
      </p:sp>
      <p:sp>
        <p:nvSpPr>
          <p:cNvPr id="152" name="Shape 150"/>
          <p:cNvSpPr/>
          <p:nvPr/>
        </p:nvSpPr>
        <p:spPr>
          <a:xfrm>
            <a:off x="566928" y="3243376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566928" y="3243376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4" name="Text 152"/>
          <p:cNvSpPr/>
          <p:nvPr/>
        </p:nvSpPr>
        <p:spPr>
          <a:xfrm>
            <a:off x="1133856" y="3237890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 דו-לשוני עברית/אנגלית (RTL/LTR)</a:t>
            </a:r>
            <a:endParaRPr lang="en-US" sz="2100" dirty="0"/>
          </a:p>
        </p:txBody>
      </p:sp>
      <p:sp>
        <p:nvSpPr>
          <p:cNvPr id="155" name="Shape 153"/>
          <p:cNvSpPr/>
          <p:nvPr/>
        </p:nvSpPr>
        <p:spPr>
          <a:xfrm>
            <a:off x="566928" y="3330244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566928" y="3330244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57" name="Text 155"/>
          <p:cNvSpPr/>
          <p:nvPr/>
        </p:nvSpPr>
        <p:spPr>
          <a:xfrm>
            <a:off x="1133856" y="3324758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BCrypt + הצפנת AES-256</a:t>
            </a:r>
            <a:endParaRPr lang="en-US" sz="2100" dirty="0"/>
          </a:p>
        </p:txBody>
      </p:sp>
      <p:sp>
        <p:nvSpPr>
          <p:cNvPr id="158" name="Shape 156"/>
          <p:cNvSpPr/>
          <p:nvPr/>
        </p:nvSpPr>
        <p:spPr>
          <a:xfrm>
            <a:off x="566928" y="34171128"/>
            <a:ext cx="438912" cy="594360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566928" y="34171128"/>
            <a:ext cx="438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60" name="Text 158"/>
          <p:cNvSpPr/>
          <p:nvPr/>
        </p:nvSpPr>
        <p:spPr>
          <a:xfrm>
            <a:off x="1133856" y="34116264"/>
            <a:ext cx="11064240" cy="7132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לוחות בקרה למטפל ולאדמין</a:t>
            </a:r>
            <a:endParaRPr lang="en-US" sz="2100" dirty="0"/>
          </a:p>
        </p:txBody>
      </p:sp>
      <p:sp>
        <p:nvSpPr>
          <p:cNvPr id="161" name="Shape 159"/>
          <p:cNvSpPr/>
          <p:nvPr/>
        </p:nvSpPr>
        <p:spPr>
          <a:xfrm>
            <a:off x="12783312" y="27889200"/>
            <a:ext cx="12051792" cy="7223760"/>
          </a:xfrm>
          <a:prstGeom prst="rect">
            <a:avLst/>
          </a:prstGeom>
          <a:solidFill>
            <a:srgbClr val="241D16"/>
          </a:solidFill>
          <a:ln w="15240">
            <a:solidFill>
              <a:srgbClr val="ECC31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12984480" y="28053792"/>
            <a:ext cx="11649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מסקנות ועבודה עתידית</a:t>
            </a:r>
            <a:endParaRPr lang="en-US" sz="3800" dirty="0"/>
          </a:p>
        </p:txBody>
      </p:sp>
      <p:sp>
        <p:nvSpPr>
          <p:cNvPr id="163" name="Text 161"/>
          <p:cNvSpPr/>
          <p:nvPr/>
        </p:nvSpPr>
        <p:spPr>
          <a:xfrm>
            <a:off x="12984480" y="28849320"/>
            <a:ext cx="11649456" cy="1920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המערכת הוכיחה כי ניתן לחבר מטופלים למטפלים מוסמכים בצורה חכמה ומאובטחת. שילוב OpenAI Embeddings עם חיפוש וקטורי ב-RavenDB מאפשר התאמה אישית מדויקת שחסרה בפתרונות הקיימים בשוק.</a:t>
            </a:r>
            <a:endParaRPr lang="en-US" sz="2200" dirty="0"/>
          </a:p>
        </p:txBody>
      </p:sp>
      <p:sp>
        <p:nvSpPr>
          <p:cNvPr id="164" name="Text 162"/>
          <p:cNvSpPr/>
          <p:nvPr/>
        </p:nvSpPr>
        <p:spPr>
          <a:xfrm>
            <a:off x="12984480" y="30861000"/>
            <a:ext cx="11649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D4A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כיווני פיתוח עתידי:</a:t>
            </a:r>
            <a:endParaRPr lang="en-US" sz="2500" dirty="0"/>
          </a:p>
        </p:txBody>
      </p:sp>
      <p:sp>
        <p:nvSpPr>
          <p:cNvPr id="165" name="Shape 163"/>
          <p:cNvSpPr/>
          <p:nvPr/>
        </p:nvSpPr>
        <p:spPr>
          <a:xfrm>
            <a:off x="24332184" y="31747968"/>
            <a:ext cx="256032" cy="256032"/>
          </a:xfrm>
          <a:prstGeom prst="ellipse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2984480" y="31592520"/>
            <a:ext cx="11228832" cy="694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אימות רישיון אוטומטי (Selenium + משרד הבריאות)</a:t>
            </a:r>
            <a:endParaRPr lang="en-US" sz="2100" dirty="0"/>
          </a:p>
        </p:txBody>
      </p:sp>
      <p:sp>
        <p:nvSpPr>
          <p:cNvPr id="167" name="Shape 165"/>
          <p:cNvSpPr/>
          <p:nvPr/>
        </p:nvSpPr>
        <p:spPr>
          <a:xfrm>
            <a:off x="24332184" y="32616648"/>
            <a:ext cx="256032" cy="256032"/>
          </a:xfrm>
          <a:prstGeom prst="ellipse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2984480" y="32461200"/>
            <a:ext cx="11228832" cy="694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ניתוח סנטימנט שיחות בזמן אמת</a:t>
            </a:r>
            <a:endParaRPr lang="en-US" sz="2100" dirty="0"/>
          </a:p>
        </p:txBody>
      </p:sp>
      <p:sp>
        <p:nvSpPr>
          <p:cNvPr id="169" name="Shape 167"/>
          <p:cNvSpPr/>
          <p:nvPr/>
        </p:nvSpPr>
        <p:spPr>
          <a:xfrm>
            <a:off x="24332184" y="33485328"/>
            <a:ext cx="256032" cy="256032"/>
          </a:xfrm>
          <a:prstGeom prst="ellipse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2984480" y="33329880"/>
            <a:ext cx="11228832" cy="694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אפליקציה מובייל (React Native)</a:t>
            </a:r>
            <a:endParaRPr lang="en-US" sz="2100" dirty="0"/>
          </a:p>
        </p:txBody>
      </p:sp>
      <p:sp>
        <p:nvSpPr>
          <p:cNvPr id="171" name="Shape 169"/>
          <p:cNvSpPr/>
          <p:nvPr/>
        </p:nvSpPr>
        <p:spPr>
          <a:xfrm>
            <a:off x="24332184" y="34354008"/>
            <a:ext cx="256032" cy="256032"/>
          </a:xfrm>
          <a:prstGeom prst="ellipse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2984480" y="34198560"/>
            <a:ext cx="11228832" cy="6949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AF6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הרחבת מאגר + בדיקות A/B על ה-Matching</a:t>
            </a:r>
            <a:endParaRPr lang="en-US" sz="2100" dirty="0"/>
          </a:p>
        </p:txBody>
      </p:sp>
      <p:sp>
        <p:nvSpPr>
          <p:cNvPr id="173" name="Shape 171"/>
          <p:cNvSpPr/>
          <p:nvPr/>
        </p:nvSpPr>
        <p:spPr>
          <a:xfrm>
            <a:off x="0" y="35250120"/>
            <a:ext cx="25200864" cy="749808"/>
          </a:xfrm>
          <a:prstGeom prst="rect">
            <a:avLst/>
          </a:prstGeom>
          <a:solidFill>
            <a:srgbClr val="100D08"/>
          </a:solidFill>
          <a:ln w="12700">
            <a:solidFill>
              <a:srgbClr val="100D08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0" y="35250120"/>
            <a:ext cx="25200864" cy="109728"/>
          </a:xfrm>
          <a:prstGeom prst="rect">
            <a:avLst/>
          </a:prstGeom>
          <a:solidFill>
            <a:srgbClr val="ECC31C"/>
          </a:solidFill>
          <a:ln w="12700">
            <a:solidFill>
              <a:srgbClr val="ECC31C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65760" y="35341560"/>
            <a:ext cx="24469344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rtl="1" algn="ctr" indent="0" marL="0">
              <a:buNone/>
            </a:pPr>
            <a:r>
              <a:rPr lang="en-US" sz="2200" dirty="0">
                <a:solidFill>
                  <a:srgbClr val="9E8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כנס פרויקטי גמר  |  מדמ"ח תשפ"ו  |  16/7/2026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2026-06-20T11:47:07Z</dcterms:created>
  <dcterms:modified xsi:type="dcterms:W3CDTF">2026-06-20T11:47:07Z</dcterms:modified>
</cp:coreProperties>
</file>